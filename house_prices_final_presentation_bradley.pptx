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20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Correlation with SalePrice</c:v>
                </c:pt>
              </c:strCache>
            </c:strRef>
          </c:tx>
          <c:spPr>
            <a:solidFill>
              <a:srgbClr val="1E8FF7"/>
            </a:solidFill>
            <a:effectLst/>
          </c:spPr>
          <c:invertIfNegative val="0"/>
          <c:cat>
            <c:strRef>
              <c:f>Sheet1!$A$2:$A$9</c:f>
              <c:strCache>
                <c:ptCount val="8"/>
                <c:pt idx="0">
                  <c:v>OverallQual</c:v>
                </c:pt>
                <c:pt idx="1">
                  <c:v>GrLivArea</c:v>
                </c:pt>
                <c:pt idx="2">
                  <c:v>GarageArea</c:v>
                </c:pt>
                <c:pt idx="3">
                  <c:v>TotalBsmtSF</c:v>
                </c:pt>
                <c:pt idx="4">
                  <c:v>FullBath</c:v>
                </c:pt>
                <c:pt idx="5">
                  <c:v>YearBuilt</c:v>
                </c:pt>
                <c:pt idx="6">
                  <c:v>YearRemodAdd</c:v>
                </c:pt>
                <c:pt idx="7">
                  <c:v>LotArea</c:v>
                </c:pt>
              </c:strCache>
            </c:strRef>
          </c:cat>
          <c:val>
            <c:numRef>
              <c:f>Sheet1!$B$2:$B$9</c:f>
              <c:numCache>
                <c:formatCode>General</c:formatCode>
                <c:ptCount val="8"/>
                <c:pt idx="0">
                  <c:v>0.79</c:v>
                </c:pt>
                <c:pt idx="1">
                  <c:v>0.71</c:v>
                </c:pt>
                <c:pt idx="2">
                  <c:v>0.62</c:v>
                </c:pt>
                <c:pt idx="3">
                  <c:v>0.61</c:v>
                </c:pt>
                <c:pt idx="4">
                  <c:v>0.56000000000000005</c:v>
                </c:pt>
                <c:pt idx="5">
                  <c:v>0.52</c:v>
                </c:pt>
                <c:pt idx="6">
                  <c:v>0.51</c:v>
                </c:pt>
                <c:pt idx="7">
                  <c:v>0.26</c:v>
                </c:pt>
              </c:numCache>
            </c:numRef>
          </c:val>
          <c:extLst>
            <c:ext xmlns:c16="http://schemas.microsoft.com/office/drawing/2014/chart" uri="{C3380CC4-5D6E-409C-BE32-E72D297353CC}">
              <c16:uniqueId val="{00000000-E8A1-4E41-A45C-093B954749A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MAE</c:v>
                </c:pt>
              </c:strCache>
            </c:strRef>
          </c:tx>
          <c:spPr>
            <a:solidFill>
              <a:srgbClr val="1E8FF7"/>
            </a:solidFill>
            <a:effectLst/>
          </c:spPr>
          <c:invertIfNegative val="0"/>
          <c:cat>
            <c:strRef>
              <c:f>Sheet1!$A$2:$A$3</c:f>
              <c:strCache>
                <c:ptCount val="2"/>
                <c:pt idx="0">
                  <c:v>Linear Regression</c:v>
                </c:pt>
                <c:pt idx="1">
                  <c:v>Neural Network</c:v>
                </c:pt>
              </c:strCache>
            </c:strRef>
          </c:cat>
          <c:val>
            <c:numRef>
              <c:f>Sheet1!$B$2:$B$3</c:f>
              <c:numCache>
                <c:formatCode>General</c:formatCode>
                <c:ptCount val="2"/>
                <c:pt idx="0">
                  <c:v>18608.599999999999</c:v>
                </c:pt>
                <c:pt idx="1">
                  <c:v>24699.57</c:v>
                </c:pt>
              </c:numCache>
            </c:numRef>
          </c:val>
          <c:extLst>
            <c:ext xmlns:c16="http://schemas.microsoft.com/office/drawing/2014/chart" uri="{C3380CC4-5D6E-409C-BE32-E72D297353CC}">
              <c16:uniqueId val="{00000000-FB27-C54F-B691-1096E59C64AA}"/>
            </c:ext>
          </c:extLst>
        </c:ser>
        <c:ser>
          <c:idx val="1"/>
          <c:order val="1"/>
          <c:tx>
            <c:strRef>
              <c:f>Sheet1!$C$1</c:f>
              <c:strCache>
                <c:ptCount val="1"/>
                <c:pt idx="0">
                  <c:v>RMSE</c:v>
                </c:pt>
              </c:strCache>
            </c:strRef>
          </c:tx>
          <c:spPr>
            <a:solidFill>
              <a:srgbClr val="0A4EA3"/>
            </a:solidFill>
            <a:effectLst/>
          </c:spPr>
          <c:invertIfNegative val="0"/>
          <c:cat>
            <c:strRef>
              <c:f>Sheet1!$A$2:$A$3</c:f>
              <c:strCache>
                <c:ptCount val="2"/>
                <c:pt idx="0">
                  <c:v>Linear Regression</c:v>
                </c:pt>
                <c:pt idx="1">
                  <c:v>Neural Network</c:v>
                </c:pt>
              </c:strCache>
            </c:strRef>
          </c:cat>
          <c:val>
            <c:numRef>
              <c:f>Sheet1!$C$2:$C$3</c:f>
              <c:numCache>
                <c:formatCode>General</c:formatCode>
                <c:ptCount val="2"/>
                <c:pt idx="0">
                  <c:v>29570.67</c:v>
                </c:pt>
                <c:pt idx="1">
                  <c:v>46307.11</c:v>
                </c:pt>
              </c:numCache>
            </c:numRef>
          </c:val>
          <c:extLst>
            <c:ext xmlns:c16="http://schemas.microsoft.com/office/drawing/2014/chart" uri="{C3380CC4-5D6E-409C-BE32-E72D297353CC}">
              <c16:uniqueId val="{00000001-FB27-C54F-B691-1096E59C64A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10000"/>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Overall % Change</c:v>
                </c:pt>
              </c:strCache>
            </c:strRef>
          </c:tx>
          <c:spPr>
            <a:solidFill>
              <a:srgbClr val="1E8FF7"/>
            </a:solidFill>
            <a:effectLst/>
          </c:spPr>
          <c:invertIfNegative val="0"/>
          <c:cat>
            <c:strRef>
              <c:f>Sheet1!$A$2:$A$4</c:f>
              <c:strCache>
                <c:ptCount val="3"/>
                <c:pt idx="0">
                  <c:v>Premium Neighborhood</c:v>
                </c:pt>
                <c:pt idx="1">
                  <c:v>Recent Renovation</c:v>
                </c:pt>
                <c:pt idx="2">
                  <c:v>Expanded Property</c:v>
                </c:pt>
              </c:strCache>
            </c:strRef>
          </c:cat>
          <c:val>
            <c:numRef>
              <c:f>Sheet1!$B$2:$B$4</c:f>
              <c:numCache>
                <c:formatCode>General</c:formatCode>
                <c:ptCount val="3"/>
                <c:pt idx="0">
                  <c:v>2.41</c:v>
                </c:pt>
                <c:pt idx="1">
                  <c:v>5.85</c:v>
                </c:pt>
                <c:pt idx="2">
                  <c:v>11.26</c:v>
                </c:pt>
              </c:numCache>
            </c:numRef>
          </c:val>
          <c:extLst>
            <c:ext xmlns:c16="http://schemas.microsoft.com/office/drawing/2014/chart" uri="{C3380CC4-5D6E-409C-BE32-E72D297353CC}">
              <c16:uniqueId val="{00000000-50C5-A041-8BF9-FD256362B23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927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summarizes the full housing-price analytics project.
The work moved from dataset selection and EDA through preprocessing, model building, dashboard development, and scenario analysis.
The goal was to understand what factors drive SalePrice and how models perform when predicting sale prices.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analytical issues kept the project focused.
Location was handled through neighborhood comparisons.
Outlier and model sensitivity were handled through EDA and scenario testing.
Home age and renovations were handled with engineered features such as HomeAgeAtSale and YearsSinceRemodel.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preparation stage mattered because the housing dataset has mixed data types and meaningful missing values.
For example, some missing values indicate that a feature does not exist, such as no pool or no alley access.
The final model dataset used selected original and engineered variables related to the project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selected relationship was OverallQual, with a correlation near 0.79.
GrLivArea was also strongly positive, which means larger above-ground living areas were usually associated with higher prices.
Age-related variables were negative when measuring age or years since remodeling, meaning older or less recently updated homes tended to show lower prices.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page was designed to show the feature relationships visually rather than just as numbers.
The living-area plot showed the clearest upward relationship.
The age and remodel visuals supported the idea that newer or recently updated properties generally performed better.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Linear Regression model had a lower MAE and RMSE than the neural network.
The Linear Regression model also explained more variation in the test set with an R-squared value around 0.886.
The neural network did improve after adjustments, but it was still less consistent, especially for some higher-priced properties.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analysis used the trained neural network without retraining it.
Inputs were modified, then passed through the same preprocessing pipeline and converted back from log predictions into dollars.
Expanded Property had the strongest modeled effect, followed by Recent Renovation and Premium Neighborhood.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just a static report. It lets the viewer interact with filters and slicers.
The Executive page summarizes the big picture. The feature page explores the relationships. The model page compares prediction performance. The scenario page adds what-if analysis results.
This is why the dashboard supports the final report instead of duplicating it exactly.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recommendation is to use the Linear Regression model as the stronger current model because it was more accurate and easier to interpret.
The scenario analysis adds business value by showing how predictions change under hypothetical conditions.
However, the results are model-based estimates. Real-world decisions would also need cost, market, and inspection information.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noting that the presentation summarizes the same work documented in the final report, appendix, notebooks, and dashboard.
This slide lists the main sources used for the dataset, modeling workflow, and neural network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80/10691898.2011.11889627"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tensorflow.org/guide/keras/sequential_model" TargetMode="External"/><Relationship Id="rId5" Type="http://schemas.openxmlformats.org/officeDocument/2006/relationships/hyperlink" Target="https://www.jmlr.org/papers/volume12/pedregosa11a/pedregosa11a.pdf?ref=https:/" TargetMode="External"/><Relationship Id="rId4" Type="http://schemas.openxmlformats.org/officeDocument/2006/relationships/hyperlink" Target="https://www.kaggle.com/competitions/house-prices-advanced-regression-techniques/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502418"/>
            <a:ext cx="12191695" cy="6858000"/>
          </a:xfrm>
          <a:prstGeom prst="rect">
            <a:avLst/>
          </a:prstGeom>
          <a:solidFill>
            <a:srgbClr val="F7FAFC"/>
          </a:solidFill>
          <a:ln w="12700">
            <a:solidFill>
              <a:srgbClr val="F7FAFC"/>
            </a:solidFill>
            <a:prstDash val="solid"/>
          </a:ln>
        </p:spPr>
        <p:txBody>
          <a:bodyPr/>
          <a:lstStyle/>
          <a:p>
            <a:endParaRPr lang="en-US" dirty="0"/>
          </a:p>
        </p:txBody>
      </p:sp>
      <p:sp>
        <p:nvSpPr>
          <p:cNvPr id="3" name="Text 1"/>
          <p:cNvSpPr/>
          <p:nvPr/>
        </p:nvSpPr>
        <p:spPr>
          <a:xfrm>
            <a:off x="640080" y="1024128"/>
            <a:ext cx="5440680" cy="566928"/>
          </a:xfrm>
          <a:prstGeom prst="rect">
            <a:avLst/>
          </a:prstGeom>
          <a:noFill/>
          <a:ln/>
        </p:spPr>
        <p:txBody>
          <a:bodyPr wrap="square" lIns="0" tIns="0" rIns="0" bIns="0" rtlCol="0" anchor="ctr"/>
          <a:lstStyle/>
          <a:p>
            <a:pPr marL="0" indent="0">
              <a:buNone/>
            </a:pPr>
            <a:r>
              <a:rPr lang="en-US" sz="4300" b="1" dirty="0">
                <a:solidFill>
                  <a:srgbClr val="1F2D3D"/>
                </a:solidFill>
              </a:rPr>
              <a:t>House Prices Analysis</a:t>
            </a:r>
            <a:endParaRPr lang="en-US" sz="4300" dirty="0"/>
          </a:p>
        </p:txBody>
      </p:sp>
      <p:sp>
        <p:nvSpPr>
          <p:cNvPr id="4" name="Text 2"/>
          <p:cNvSpPr/>
          <p:nvPr/>
        </p:nvSpPr>
        <p:spPr>
          <a:xfrm>
            <a:off x="749808" y="1682496"/>
            <a:ext cx="5440680" cy="566928"/>
          </a:xfrm>
          <a:prstGeom prst="rect">
            <a:avLst/>
          </a:prstGeom>
          <a:noFill/>
          <a:ln/>
        </p:spPr>
        <p:txBody>
          <a:bodyPr wrap="square" lIns="0" tIns="0" rIns="0" bIns="0" rtlCol="0" anchor="ctr">
            <a:normAutofit/>
          </a:bodyPr>
          <a:lstStyle/>
          <a:p>
            <a:pPr marL="0" indent="0">
              <a:buNone/>
            </a:pPr>
            <a:r>
              <a:rPr lang="en-US" sz="2100" dirty="0">
                <a:solidFill>
                  <a:srgbClr val="0A4EA3"/>
                </a:solidFill>
              </a:rPr>
              <a:t>Model Performance &amp; Scenario Dashboard</a:t>
            </a:r>
            <a:endParaRPr lang="en-US" sz="2100" dirty="0"/>
          </a:p>
        </p:txBody>
      </p:sp>
      <p:sp>
        <p:nvSpPr>
          <p:cNvPr id="5" name="Shape 3"/>
          <p:cNvSpPr/>
          <p:nvPr/>
        </p:nvSpPr>
        <p:spPr>
          <a:xfrm>
            <a:off x="758952" y="2267712"/>
            <a:ext cx="4114800" cy="64008"/>
          </a:xfrm>
          <a:prstGeom prst="rect">
            <a:avLst/>
          </a:prstGeom>
          <a:solidFill>
            <a:srgbClr val="1E8FF7"/>
          </a:solidFill>
          <a:ln w="12700">
            <a:solidFill>
              <a:srgbClr val="1E8FF7"/>
            </a:solidFill>
            <a:prstDash val="solid"/>
          </a:ln>
        </p:spPr>
        <p:txBody>
          <a:bodyPr/>
          <a:lstStyle/>
          <a:p>
            <a:endParaRPr lang="en-US"/>
          </a:p>
        </p:txBody>
      </p:sp>
      <p:sp>
        <p:nvSpPr>
          <p:cNvPr id="6" name="Text 4"/>
          <p:cNvSpPr/>
          <p:nvPr/>
        </p:nvSpPr>
        <p:spPr>
          <a:xfrm>
            <a:off x="5492630" y="684293"/>
            <a:ext cx="5029200" cy="292608"/>
          </a:xfrm>
          <a:prstGeom prst="rect">
            <a:avLst/>
          </a:prstGeom>
          <a:noFill/>
          <a:ln/>
        </p:spPr>
        <p:txBody>
          <a:bodyPr wrap="square" lIns="0" tIns="0" rIns="0" bIns="0" rtlCol="0" anchor="ctr"/>
          <a:lstStyle/>
          <a:p>
            <a:pPr marL="0" indent="0">
              <a:buNone/>
            </a:pPr>
            <a:endParaRPr lang="en-US" sz="1600" dirty="0">
              <a:solidFill>
                <a:srgbClr val="323232"/>
              </a:solidFill>
            </a:endParaRPr>
          </a:p>
        </p:txBody>
      </p:sp>
      <p:sp>
        <p:nvSpPr>
          <p:cNvPr id="7" name="Text 5"/>
          <p:cNvSpPr/>
          <p:nvPr/>
        </p:nvSpPr>
        <p:spPr>
          <a:xfrm>
            <a:off x="738554" y="2421653"/>
            <a:ext cx="5303520" cy="256032"/>
          </a:xfrm>
          <a:prstGeom prst="rect">
            <a:avLst/>
          </a:prstGeom>
          <a:noFill/>
          <a:ln/>
        </p:spPr>
        <p:txBody>
          <a:bodyPr wrap="square" lIns="0" tIns="0" rIns="0" bIns="0" rtlCol="0" anchor="ctr"/>
          <a:lstStyle/>
          <a:p>
            <a:pPr marL="0" indent="0">
              <a:buNone/>
            </a:pPr>
            <a:r>
              <a:rPr lang="en-US" sz="1300" dirty="0">
                <a:solidFill>
                  <a:srgbClr val="667085"/>
                </a:solidFill>
              </a:rPr>
              <a:t>Ames Housing Dataset • Final Course Project</a:t>
            </a:r>
            <a:endParaRPr lang="en-US" sz="1300" dirty="0"/>
          </a:p>
        </p:txBody>
      </p:sp>
      <p:pic>
        <p:nvPicPr>
          <p:cNvPr id="8" name="Image 0" descr="/mnt/data/Screenshot 2026-06-07 at 11.26.44 PM.png"/>
          <p:cNvPicPr>
            <a:picLocks noChangeAspect="1"/>
          </p:cNvPicPr>
          <p:nvPr/>
        </p:nvPicPr>
        <p:blipFill>
          <a:blip r:embed="rId3"/>
          <a:stretch>
            <a:fillRect/>
          </a:stretch>
        </p:blipFill>
        <p:spPr>
          <a:xfrm>
            <a:off x="6589623" y="2677685"/>
            <a:ext cx="5074920" cy="2827970"/>
          </a:xfrm>
          <a:prstGeom prst="rect">
            <a:avLst/>
          </a:prstGeom>
        </p:spPr>
      </p:pic>
      <p:sp>
        <p:nvSpPr>
          <p:cNvPr id="9" name="Text 6"/>
          <p:cNvSpPr/>
          <p:nvPr/>
        </p:nvSpPr>
        <p:spPr>
          <a:xfrm>
            <a:off x="749808" y="4297680"/>
            <a:ext cx="1691640" cy="411480"/>
          </a:xfrm>
          <a:prstGeom prst="rect">
            <a:avLst/>
          </a:prstGeom>
          <a:noFill/>
          <a:ln/>
        </p:spPr>
        <p:txBody>
          <a:bodyPr wrap="square" lIns="0" tIns="0" rIns="0" bIns="0" rtlCol="0" anchor="ctr"/>
          <a:lstStyle/>
          <a:p>
            <a:pPr marL="0" indent="0">
              <a:buNone/>
            </a:pPr>
            <a:r>
              <a:rPr lang="en-US" sz="2600" b="1" dirty="0">
                <a:solidFill>
                  <a:srgbClr val="1E8FF7"/>
                </a:solidFill>
              </a:rPr>
              <a:t>1,460</a:t>
            </a:r>
            <a:endParaRPr lang="en-US" sz="2600" dirty="0"/>
          </a:p>
        </p:txBody>
      </p:sp>
      <p:sp>
        <p:nvSpPr>
          <p:cNvPr id="10" name="Text 7"/>
          <p:cNvSpPr/>
          <p:nvPr/>
        </p:nvSpPr>
        <p:spPr>
          <a:xfrm>
            <a:off x="749808" y="4736592"/>
            <a:ext cx="1691640" cy="274320"/>
          </a:xfrm>
          <a:prstGeom prst="rect">
            <a:avLst/>
          </a:prstGeom>
          <a:noFill/>
          <a:ln/>
        </p:spPr>
        <p:txBody>
          <a:bodyPr wrap="square" lIns="0" tIns="0" rIns="0" bIns="0" rtlCol="0" anchor="ctr"/>
          <a:lstStyle/>
          <a:p>
            <a:pPr marL="0" indent="0">
              <a:buNone/>
            </a:pPr>
            <a:r>
              <a:rPr lang="en-US" sz="1150" dirty="0">
                <a:solidFill>
                  <a:srgbClr val="667085"/>
                </a:solidFill>
              </a:rPr>
              <a:t>Homes analyzed</a:t>
            </a:r>
            <a:endParaRPr lang="en-US" sz="1150" dirty="0"/>
          </a:p>
        </p:txBody>
      </p:sp>
      <p:sp>
        <p:nvSpPr>
          <p:cNvPr id="11" name="Text 8"/>
          <p:cNvSpPr/>
          <p:nvPr/>
        </p:nvSpPr>
        <p:spPr>
          <a:xfrm>
            <a:off x="2788920" y="4297680"/>
            <a:ext cx="1691640" cy="411480"/>
          </a:xfrm>
          <a:prstGeom prst="rect">
            <a:avLst/>
          </a:prstGeom>
          <a:noFill/>
          <a:ln/>
        </p:spPr>
        <p:txBody>
          <a:bodyPr wrap="square" lIns="0" tIns="0" rIns="0" bIns="0" rtlCol="0" anchor="ctr"/>
          <a:lstStyle/>
          <a:p>
            <a:pPr marL="0" indent="0">
              <a:buNone/>
            </a:pPr>
            <a:r>
              <a:rPr lang="en-US" sz="2600" b="1" dirty="0">
                <a:solidFill>
                  <a:srgbClr val="0A4EA3"/>
                </a:solidFill>
              </a:rPr>
              <a:t>$163K</a:t>
            </a:r>
            <a:endParaRPr lang="en-US" sz="2600" dirty="0"/>
          </a:p>
        </p:txBody>
      </p:sp>
      <p:sp>
        <p:nvSpPr>
          <p:cNvPr id="12" name="Text 9"/>
          <p:cNvSpPr/>
          <p:nvPr/>
        </p:nvSpPr>
        <p:spPr>
          <a:xfrm>
            <a:off x="2788920" y="4736592"/>
            <a:ext cx="1691640" cy="274320"/>
          </a:xfrm>
          <a:prstGeom prst="rect">
            <a:avLst/>
          </a:prstGeom>
          <a:noFill/>
          <a:ln/>
        </p:spPr>
        <p:txBody>
          <a:bodyPr wrap="square" lIns="0" tIns="0" rIns="0" bIns="0" rtlCol="0" anchor="ctr"/>
          <a:lstStyle/>
          <a:p>
            <a:pPr marL="0" indent="0">
              <a:buNone/>
            </a:pPr>
            <a:r>
              <a:rPr lang="en-US" sz="1150" dirty="0">
                <a:solidFill>
                  <a:srgbClr val="667085"/>
                </a:solidFill>
              </a:rPr>
              <a:t>Median sale price</a:t>
            </a:r>
            <a:endParaRPr lang="en-US" sz="1150" dirty="0"/>
          </a:p>
        </p:txBody>
      </p:sp>
      <p:sp>
        <p:nvSpPr>
          <p:cNvPr id="13" name="Text 10"/>
          <p:cNvSpPr/>
          <p:nvPr/>
        </p:nvSpPr>
        <p:spPr>
          <a:xfrm>
            <a:off x="4736592" y="4297680"/>
            <a:ext cx="1325880" cy="411480"/>
          </a:xfrm>
          <a:prstGeom prst="rect">
            <a:avLst/>
          </a:prstGeom>
          <a:noFill/>
          <a:ln/>
        </p:spPr>
        <p:txBody>
          <a:bodyPr wrap="square" lIns="0" tIns="0" rIns="0" bIns="0" rtlCol="0" anchor="ctr"/>
          <a:lstStyle/>
          <a:p>
            <a:pPr marL="0" indent="0">
              <a:buNone/>
            </a:pPr>
            <a:r>
              <a:rPr lang="en-US" sz="2600" b="1" dirty="0">
                <a:solidFill>
                  <a:srgbClr val="00A86B"/>
                </a:solidFill>
              </a:rPr>
              <a:t>0.89</a:t>
            </a:r>
            <a:endParaRPr lang="en-US" sz="2600" dirty="0"/>
          </a:p>
        </p:txBody>
      </p:sp>
      <p:sp>
        <p:nvSpPr>
          <p:cNvPr id="14" name="Text 11"/>
          <p:cNvSpPr/>
          <p:nvPr/>
        </p:nvSpPr>
        <p:spPr>
          <a:xfrm>
            <a:off x="4736592" y="4736592"/>
            <a:ext cx="1325880" cy="274320"/>
          </a:xfrm>
          <a:prstGeom prst="rect">
            <a:avLst/>
          </a:prstGeom>
          <a:noFill/>
          <a:ln/>
        </p:spPr>
        <p:txBody>
          <a:bodyPr wrap="square" lIns="0" tIns="0" rIns="0" bIns="0" rtlCol="0" anchor="ctr"/>
          <a:lstStyle/>
          <a:p>
            <a:pPr marL="0" indent="0">
              <a:buNone/>
            </a:pPr>
            <a:r>
              <a:rPr lang="en-US" sz="1150" dirty="0">
                <a:solidFill>
                  <a:srgbClr val="667085"/>
                </a:solidFill>
              </a:rPr>
              <a:t>Best model R²</a:t>
            </a:r>
            <a:endParaRPr lang="en-US" sz="1150" dirty="0"/>
          </a:p>
        </p:txBody>
      </p:sp>
      <p:sp>
        <p:nvSpPr>
          <p:cNvPr id="15" name="Text 12"/>
          <p:cNvSpPr/>
          <p:nvPr/>
        </p:nvSpPr>
        <p:spPr>
          <a:xfrm>
            <a:off x="749808" y="5650992"/>
            <a:ext cx="5486400" cy="548640"/>
          </a:xfrm>
          <a:prstGeom prst="rect">
            <a:avLst/>
          </a:prstGeom>
          <a:noFill/>
          <a:ln/>
        </p:spPr>
        <p:txBody>
          <a:bodyPr wrap="square" lIns="254" tIns="254" rIns="254" bIns="254" rtlCol="0" anchor="ctr"/>
          <a:lstStyle/>
          <a:p>
            <a:pPr marL="0" indent="0">
              <a:buNone/>
            </a:pPr>
            <a:r>
              <a:rPr lang="en-US" sz="1500" b="1" dirty="0">
                <a:solidFill>
                  <a:srgbClr val="1F2D3D"/>
                </a:solidFill>
              </a:rPr>
              <a:t>Key takeaway: model performance favored a simpler Linear Regression baseline, while scenario analysis showed the largest predicted gain from property-size expansion.</a:t>
            </a:r>
            <a:endParaRPr lang="en-US" sz="1500" dirty="0"/>
          </a:p>
        </p:txBody>
      </p:sp>
      <p:sp>
        <p:nvSpPr>
          <p:cNvPr id="16" name="Text 13"/>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1</a:t>
            </a:r>
            <a:endParaRPr lang="en-US" sz="850" dirty="0"/>
          </a:p>
        </p:txBody>
      </p:sp>
      <p:sp>
        <p:nvSpPr>
          <p:cNvPr id="17" name="TextBox 16">
            <a:extLst>
              <a:ext uri="{FF2B5EF4-FFF2-40B4-BE49-F238E27FC236}">
                <a16:creationId xmlns:a16="http://schemas.microsoft.com/office/drawing/2014/main" id="{63CA20A2-F758-D086-D290-DA03DD79046F}"/>
              </a:ext>
            </a:extLst>
          </p:cNvPr>
          <p:cNvSpPr txBox="1"/>
          <p:nvPr/>
        </p:nvSpPr>
        <p:spPr>
          <a:xfrm>
            <a:off x="6830568" y="336682"/>
            <a:ext cx="4682182" cy="2031325"/>
          </a:xfrm>
          <a:prstGeom prst="rect">
            <a:avLst/>
          </a:prstGeom>
          <a:noFill/>
        </p:spPr>
        <p:txBody>
          <a:bodyPr wrap="square" rtlCol="0">
            <a:spAutoFit/>
          </a:bodyPr>
          <a:lstStyle/>
          <a:p>
            <a:r>
              <a:rPr lang="en-US" dirty="0">
                <a:solidFill>
                  <a:srgbClr val="323232"/>
                </a:solidFill>
              </a:rPr>
              <a:t>Bradley J.</a:t>
            </a:r>
            <a:br>
              <a:rPr lang="en-US" dirty="0">
                <a:solidFill>
                  <a:srgbClr val="323232"/>
                </a:solidFill>
              </a:rPr>
            </a:br>
            <a:r>
              <a:rPr lang="en-US" dirty="0">
                <a:solidFill>
                  <a:srgbClr val="323232"/>
                </a:solidFill>
              </a:rPr>
              <a:t>Software Development: ECPI University</a:t>
            </a:r>
            <a:br>
              <a:rPr lang="en-US" dirty="0">
                <a:solidFill>
                  <a:srgbClr val="323232"/>
                </a:solidFill>
              </a:rPr>
            </a:br>
            <a:r>
              <a:rPr lang="en-US" dirty="0">
                <a:solidFill>
                  <a:srgbClr val="323232"/>
                </a:solidFill>
              </a:rPr>
              <a:t>SDC486L: AI/ML and Advanced Data Analytics Lab</a:t>
            </a:r>
            <a:br>
              <a:rPr lang="en-US" dirty="0">
                <a:solidFill>
                  <a:srgbClr val="323232"/>
                </a:solidFill>
              </a:rPr>
            </a:br>
            <a:r>
              <a:rPr lang="en-US" dirty="0">
                <a:solidFill>
                  <a:srgbClr val="323232"/>
                </a:solidFill>
              </a:rPr>
              <a:t>Dr. Kingsley Iyinbor</a:t>
            </a:r>
            <a:br>
              <a:rPr lang="en-US" dirty="0">
                <a:solidFill>
                  <a:srgbClr val="323232"/>
                </a:solidFill>
              </a:rPr>
            </a:br>
            <a:r>
              <a:rPr lang="en-US" dirty="0">
                <a:solidFill>
                  <a:srgbClr val="323232"/>
                </a:solidFill>
              </a:rPr>
              <a:t>June 13, 2026</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Project Focus</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Three analytical issues guided the end-to-end workflow.</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sp>
        <p:nvSpPr>
          <p:cNvPr id="5" name="Shape 3"/>
          <p:cNvSpPr/>
          <p:nvPr/>
        </p:nvSpPr>
        <p:spPr>
          <a:xfrm>
            <a:off x="685800" y="1417320"/>
            <a:ext cx="3337560" cy="1600200"/>
          </a:xfrm>
          <a:prstGeom prst="roundRect">
            <a:avLst>
              <a:gd name="adj" fmla="val 2857"/>
            </a:avLst>
          </a:prstGeom>
          <a:solidFill>
            <a:srgbClr val="FFFFFF"/>
          </a:solidFill>
          <a:ln w="10160">
            <a:solidFill>
              <a:srgbClr val="D8DEE9"/>
            </a:solidFill>
            <a:prstDash val="solid"/>
          </a:ln>
        </p:spPr>
        <p:txBody>
          <a:bodyPr/>
          <a:lstStyle/>
          <a:p>
            <a:endParaRPr lang="en-US"/>
          </a:p>
        </p:txBody>
      </p:sp>
      <p:sp>
        <p:nvSpPr>
          <p:cNvPr id="6" name="Text 4"/>
          <p:cNvSpPr/>
          <p:nvPr/>
        </p:nvSpPr>
        <p:spPr>
          <a:xfrm>
            <a:off x="886968" y="1600200"/>
            <a:ext cx="2926080" cy="320040"/>
          </a:xfrm>
          <a:prstGeom prst="rect">
            <a:avLst/>
          </a:prstGeom>
          <a:noFill/>
          <a:ln/>
        </p:spPr>
        <p:txBody>
          <a:bodyPr wrap="square" lIns="0" tIns="0" rIns="0" bIns="0" rtlCol="0" anchor="ctr"/>
          <a:lstStyle/>
          <a:p>
            <a:pPr marL="0" indent="0">
              <a:buNone/>
            </a:pPr>
            <a:r>
              <a:rPr lang="en-US" sz="1800" b="1" dirty="0">
                <a:solidFill>
                  <a:srgbClr val="0A4EA3"/>
                </a:solidFill>
              </a:rPr>
              <a:t>Location impact</a:t>
            </a:r>
            <a:endParaRPr lang="en-US" sz="1800" dirty="0"/>
          </a:p>
        </p:txBody>
      </p:sp>
      <p:sp>
        <p:nvSpPr>
          <p:cNvPr id="7" name="Text 5"/>
          <p:cNvSpPr/>
          <p:nvPr/>
        </p:nvSpPr>
        <p:spPr>
          <a:xfrm>
            <a:off x="886968" y="2029968"/>
            <a:ext cx="2926080" cy="594360"/>
          </a:xfrm>
          <a:prstGeom prst="rect">
            <a:avLst/>
          </a:prstGeom>
          <a:noFill/>
          <a:ln/>
        </p:spPr>
        <p:txBody>
          <a:bodyPr wrap="square" lIns="0" tIns="0" rIns="0" bIns="0" rtlCol="0" anchor="ctr">
            <a:normAutofit/>
          </a:bodyPr>
          <a:lstStyle/>
          <a:p>
            <a:pPr marL="0" indent="0">
              <a:buNone/>
            </a:pPr>
            <a:r>
              <a:rPr lang="en-US" sz="1350" dirty="0">
                <a:solidFill>
                  <a:srgbClr val="323232"/>
                </a:solidFill>
              </a:rPr>
              <a:t>Do neighborhoods show meaningful differences in typical home value?</a:t>
            </a:r>
            <a:endParaRPr lang="en-US" sz="1350" dirty="0"/>
          </a:p>
        </p:txBody>
      </p:sp>
      <p:sp>
        <p:nvSpPr>
          <p:cNvPr id="8" name="Shape 6"/>
          <p:cNvSpPr/>
          <p:nvPr/>
        </p:nvSpPr>
        <p:spPr>
          <a:xfrm>
            <a:off x="4389120" y="1417320"/>
            <a:ext cx="3337560" cy="1600200"/>
          </a:xfrm>
          <a:prstGeom prst="roundRect">
            <a:avLst>
              <a:gd name="adj" fmla="val 2857"/>
            </a:avLst>
          </a:prstGeom>
          <a:solidFill>
            <a:srgbClr val="FFFFFF"/>
          </a:solidFill>
          <a:ln w="10160">
            <a:solidFill>
              <a:srgbClr val="D8DEE9"/>
            </a:solidFill>
            <a:prstDash val="solid"/>
          </a:ln>
        </p:spPr>
        <p:txBody>
          <a:bodyPr/>
          <a:lstStyle/>
          <a:p>
            <a:endParaRPr lang="en-US"/>
          </a:p>
        </p:txBody>
      </p:sp>
      <p:sp>
        <p:nvSpPr>
          <p:cNvPr id="9" name="Text 7"/>
          <p:cNvSpPr/>
          <p:nvPr/>
        </p:nvSpPr>
        <p:spPr>
          <a:xfrm>
            <a:off x="4590288" y="1600200"/>
            <a:ext cx="2926080" cy="320040"/>
          </a:xfrm>
          <a:prstGeom prst="rect">
            <a:avLst/>
          </a:prstGeom>
          <a:noFill/>
          <a:ln/>
        </p:spPr>
        <p:txBody>
          <a:bodyPr wrap="square" lIns="0" tIns="0" rIns="0" bIns="0" rtlCol="0" anchor="ctr"/>
          <a:lstStyle/>
          <a:p>
            <a:pPr marL="0" indent="0">
              <a:buNone/>
            </a:pPr>
            <a:r>
              <a:rPr lang="en-US" sz="1800" b="1" dirty="0">
                <a:solidFill>
                  <a:srgbClr val="0A4EA3"/>
                </a:solidFill>
              </a:rPr>
              <a:t>Model sensitivity</a:t>
            </a:r>
            <a:endParaRPr lang="en-US" sz="1800" dirty="0"/>
          </a:p>
        </p:txBody>
      </p:sp>
      <p:sp>
        <p:nvSpPr>
          <p:cNvPr id="10" name="Text 8"/>
          <p:cNvSpPr/>
          <p:nvPr/>
        </p:nvSpPr>
        <p:spPr>
          <a:xfrm>
            <a:off x="4590288" y="2029968"/>
            <a:ext cx="2926080" cy="594360"/>
          </a:xfrm>
          <a:prstGeom prst="rect">
            <a:avLst/>
          </a:prstGeom>
          <a:noFill/>
          <a:ln/>
        </p:spPr>
        <p:txBody>
          <a:bodyPr wrap="square" lIns="0" tIns="0" rIns="0" bIns="0" rtlCol="0" anchor="ctr">
            <a:normAutofit/>
          </a:bodyPr>
          <a:lstStyle/>
          <a:p>
            <a:pPr marL="0" indent="0">
              <a:buNone/>
            </a:pPr>
            <a:r>
              <a:rPr lang="en-US" sz="1350" dirty="0">
                <a:solidFill>
                  <a:srgbClr val="323232"/>
                </a:solidFill>
              </a:rPr>
              <a:t>How do unusual or larger properties affect prediction behavior?</a:t>
            </a:r>
            <a:endParaRPr lang="en-US" sz="1350" dirty="0"/>
          </a:p>
        </p:txBody>
      </p:sp>
      <p:sp>
        <p:nvSpPr>
          <p:cNvPr id="11" name="Shape 9"/>
          <p:cNvSpPr/>
          <p:nvPr/>
        </p:nvSpPr>
        <p:spPr>
          <a:xfrm>
            <a:off x="8092440" y="1417320"/>
            <a:ext cx="3337560" cy="1600200"/>
          </a:xfrm>
          <a:prstGeom prst="roundRect">
            <a:avLst>
              <a:gd name="adj" fmla="val 2857"/>
            </a:avLst>
          </a:prstGeom>
          <a:solidFill>
            <a:srgbClr val="FFFFFF"/>
          </a:solidFill>
          <a:ln w="10160">
            <a:solidFill>
              <a:srgbClr val="D8DEE9"/>
            </a:solidFill>
            <a:prstDash val="solid"/>
          </a:ln>
        </p:spPr>
        <p:txBody>
          <a:bodyPr/>
          <a:lstStyle/>
          <a:p>
            <a:endParaRPr lang="en-US"/>
          </a:p>
        </p:txBody>
      </p:sp>
      <p:sp>
        <p:nvSpPr>
          <p:cNvPr id="12" name="Text 10"/>
          <p:cNvSpPr/>
          <p:nvPr/>
        </p:nvSpPr>
        <p:spPr>
          <a:xfrm>
            <a:off x="8293608" y="1600200"/>
            <a:ext cx="2926080" cy="320040"/>
          </a:xfrm>
          <a:prstGeom prst="rect">
            <a:avLst/>
          </a:prstGeom>
          <a:noFill/>
          <a:ln/>
        </p:spPr>
        <p:txBody>
          <a:bodyPr wrap="square" lIns="0" tIns="0" rIns="0" bIns="0" rtlCol="0" anchor="ctr"/>
          <a:lstStyle/>
          <a:p>
            <a:pPr marL="0" indent="0">
              <a:buNone/>
            </a:pPr>
            <a:r>
              <a:rPr lang="en-US" sz="1800" b="1" dirty="0">
                <a:solidFill>
                  <a:srgbClr val="0A4EA3"/>
                </a:solidFill>
              </a:rPr>
              <a:t>Age &amp; renovations</a:t>
            </a:r>
            <a:endParaRPr lang="en-US" sz="1800" dirty="0"/>
          </a:p>
        </p:txBody>
      </p:sp>
      <p:sp>
        <p:nvSpPr>
          <p:cNvPr id="13" name="Text 11"/>
          <p:cNvSpPr/>
          <p:nvPr/>
        </p:nvSpPr>
        <p:spPr>
          <a:xfrm>
            <a:off x="8293608" y="2029968"/>
            <a:ext cx="2926080" cy="594360"/>
          </a:xfrm>
          <a:prstGeom prst="rect">
            <a:avLst/>
          </a:prstGeom>
          <a:noFill/>
          <a:ln/>
        </p:spPr>
        <p:txBody>
          <a:bodyPr wrap="square" lIns="0" tIns="0" rIns="0" bIns="0" rtlCol="0" anchor="ctr">
            <a:normAutofit/>
          </a:bodyPr>
          <a:lstStyle/>
          <a:p>
            <a:pPr marL="0" indent="0">
              <a:buNone/>
            </a:pPr>
            <a:r>
              <a:rPr lang="en-US" sz="1350" dirty="0">
                <a:solidFill>
                  <a:srgbClr val="323232"/>
                </a:solidFill>
              </a:rPr>
              <a:t>How do home age and remodel timing relate to sale price?</a:t>
            </a:r>
            <a:endParaRPr lang="en-US" sz="1350" dirty="0"/>
          </a:p>
        </p:txBody>
      </p:sp>
      <p:sp>
        <p:nvSpPr>
          <p:cNvPr id="14" name="Shape 12"/>
          <p:cNvSpPr/>
          <p:nvPr/>
        </p:nvSpPr>
        <p:spPr>
          <a:xfrm>
            <a:off x="841248" y="3822192"/>
            <a:ext cx="1874520" cy="658368"/>
          </a:xfrm>
          <a:prstGeom prst="chevron">
            <a:avLst/>
          </a:prstGeom>
          <a:solidFill>
            <a:srgbClr val="1E8FF7"/>
          </a:solidFill>
          <a:ln w="12700">
            <a:solidFill>
              <a:srgbClr val="1E8FF7"/>
            </a:solidFill>
            <a:prstDash val="solid"/>
          </a:ln>
        </p:spPr>
        <p:txBody>
          <a:bodyPr/>
          <a:lstStyle/>
          <a:p>
            <a:endParaRPr lang="en-US"/>
          </a:p>
        </p:txBody>
      </p:sp>
      <p:sp>
        <p:nvSpPr>
          <p:cNvPr id="15" name="Text 13"/>
          <p:cNvSpPr/>
          <p:nvPr/>
        </p:nvSpPr>
        <p:spPr>
          <a:xfrm>
            <a:off x="932688" y="4041648"/>
            <a:ext cx="1417320" cy="182880"/>
          </a:xfrm>
          <a:prstGeom prst="rect">
            <a:avLst/>
          </a:prstGeom>
          <a:noFill/>
          <a:ln/>
        </p:spPr>
        <p:txBody>
          <a:bodyPr wrap="square" lIns="0" tIns="0" rIns="0" bIns="0" rtlCol="0" anchor="ctr"/>
          <a:lstStyle/>
          <a:p>
            <a:pPr marL="0" indent="0" algn="ctr">
              <a:buNone/>
            </a:pPr>
            <a:r>
              <a:rPr lang="en-US" sz="1200" b="1" dirty="0">
                <a:solidFill>
                  <a:srgbClr val="FFFFFF"/>
                </a:solidFill>
              </a:rPr>
              <a:t>EDA</a:t>
            </a:r>
            <a:endParaRPr lang="en-US" sz="1200" dirty="0"/>
          </a:p>
        </p:txBody>
      </p:sp>
      <p:sp>
        <p:nvSpPr>
          <p:cNvPr id="16" name="Shape 14"/>
          <p:cNvSpPr/>
          <p:nvPr/>
        </p:nvSpPr>
        <p:spPr>
          <a:xfrm>
            <a:off x="3081528" y="3822192"/>
            <a:ext cx="1874520" cy="658368"/>
          </a:xfrm>
          <a:prstGeom prst="chevron">
            <a:avLst/>
          </a:prstGeom>
          <a:solidFill>
            <a:srgbClr val="EAF4FF"/>
          </a:solidFill>
          <a:ln w="12700">
            <a:solidFill>
              <a:srgbClr val="EAF4FF"/>
            </a:solidFill>
            <a:prstDash val="solid"/>
          </a:ln>
        </p:spPr>
        <p:txBody>
          <a:bodyPr/>
          <a:lstStyle/>
          <a:p>
            <a:endParaRPr lang="en-US"/>
          </a:p>
        </p:txBody>
      </p:sp>
      <p:sp>
        <p:nvSpPr>
          <p:cNvPr id="17" name="Text 15"/>
          <p:cNvSpPr/>
          <p:nvPr/>
        </p:nvSpPr>
        <p:spPr>
          <a:xfrm>
            <a:off x="3172968" y="4041648"/>
            <a:ext cx="1417320" cy="182880"/>
          </a:xfrm>
          <a:prstGeom prst="rect">
            <a:avLst/>
          </a:prstGeom>
          <a:noFill/>
          <a:ln/>
        </p:spPr>
        <p:txBody>
          <a:bodyPr wrap="square" lIns="0" tIns="0" rIns="0" bIns="0" rtlCol="0" anchor="ctr"/>
          <a:lstStyle/>
          <a:p>
            <a:pPr marL="0" indent="0" algn="ctr">
              <a:buNone/>
            </a:pPr>
            <a:r>
              <a:rPr lang="en-US" sz="1200" b="1" dirty="0">
                <a:solidFill>
                  <a:srgbClr val="1F2D3D"/>
                </a:solidFill>
              </a:rPr>
              <a:t>Preprocessing</a:t>
            </a:r>
            <a:endParaRPr lang="en-US" sz="1200" dirty="0"/>
          </a:p>
        </p:txBody>
      </p:sp>
      <p:sp>
        <p:nvSpPr>
          <p:cNvPr id="18" name="Shape 16"/>
          <p:cNvSpPr/>
          <p:nvPr/>
        </p:nvSpPr>
        <p:spPr>
          <a:xfrm>
            <a:off x="5321808" y="3822192"/>
            <a:ext cx="1874520" cy="658368"/>
          </a:xfrm>
          <a:prstGeom prst="chevron">
            <a:avLst/>
          </a:prstGeom>
          <a:solidFill>
            <a:srgbClr val="EAF4FF"/>
          </a:solidFill>
          <a:ln w="12700">
            <a:solidFill>
              <a:srgbClr val="EAF4FF"/>
            </a:solidFill>
            <a:prstDash val="solid"/>
          </a:ln>
        </p:spPr>
        <p:txBody>
          <a:bodyPr/>
          <a:lstStyle/>
          <a:p>
            <a:endParaRPr lang="en-US"/>
          </a:p>
        </p:txBody>
      </p:sp>
      <p:sp>
        <p:nvSpPr>
          <p:cNvPr id="19" name="Text 17"/>
          <p:cNvSpPr/>
          <p:nvPr/>
        </p:nvSpPr>
        <p:spPr>
          <a:xfrm>
            <a:off x="5413248" y="4041648"/>
            <a:ext cx="1417320" cy="182880"/>
          </a:xfrm>
          <a:prstGeom prst="rect">
            <a:avLst/>
          </a:prstGeom>
          <a:noFill/>
          <a:ln/>
        </p:spPr>
        <p:txBody>
          <a:bodyPr wrap="square" lIns="0" tIns="0" rIns="0" bIns="0" rtlCol="0" anchor="ctr"/>
          <a:lstStyle/>
          <a:p>
            <a:pPr marL="0" indent="0" algn="ctr">
              <a:buNone/>
            </a:pPr>
            <a:r>
              <a:rPr lang="en-US" sz="1200" b="1" dirty="0">
                <a:solidFill>
                  <a:srgbClr val="1F2D3D"/>
                </a:solidFill>
              </a:rPr>
              <a:t>Models</a:t>
            </a:r>
            <a:endParaRPr lang="en-US" sz="1200" dirty="0"/>
          </a:p>
        </p:txBody>
      </p:sp>
      <p:sp>
        <p:nvSpPr>
          <p:cNvPr id="20" name="Shape 18"/>
          <p:cNvSpPr/>
          <p:nvPr/>
        </p:nvSpPr>
        <p:spPr>
          <a:xfrm>
            <a:off x="7562088" y="3822192"/>
            <a:ext cx="1874520" cy="658368"/>
          </a:xfrm>
          <a:prstGeom prst="chevron">
            <a:avLst/>
          </a:prstGeom>
          <a:solidFill>
            <a:srgbClr val="EAF4FF"/>
          </a:solidFill>
          <a:ln w="12700">
            <a:solidFill>
              <a:srgbClr val="EAF4FF"/>
            </a:solidFill>
            <a:prstDash val="solid"/>
          </a:ln>
        </p:spPr>
        <p:txBody>
          <a:bodyPr/>
          <a:lstStyle/>
          <a:p>
            <a:endParaRPr lang="en-US"/>
          </a:p>
        </p:txBody>
      </p:sp>
      <p:sp>
        <p:nvSpPr>
          <p:cNvPr id="21" name="Text 19"/>
          <p:cNvSpPr/>
          <p:nvPr/>
        </p:nvSpPr>
        <p:spPr>
          <a:xfrm>
            <a:off x="7653528" y="4041648"/>
            <a:ext cx="1417320" cy="182880"/>
          </a:xfrm>
          <a:prstGeom prst="rect">
            <a:avLst/>
          </a:prstGeom>
          <a:noFill/>
          <a:ln/>
        </p:spPr>
        <p:txBody>
          <a:bodyPr wrap="square" lIns="0" tIns="0" rIns="0" bIns="0" rtlCol="0" anchor="ctr"/>
          <a:lstStyle/>
          <a:p>
            <a:pPr marL="0" indent="0" algn="ctr">
              <a:buNone/>
            </a:pPr>
            <a:r>
              <a:rPr lang="en-US" sz="1200" b="1" dirty="0">
                <a:solidFill>
                  <a:srgbClr val="1F2D3D"/>
                </a:solidFill>
              </a:rPr>
              <a:t>Scenarios</a:t>
            </a:r>
            <a:endParaRPr lang="en-US" sz="1200" dirty="0"/>
          </a:p>
        </p:txBody>
      </p:sp>
      <p:sp>
        <p:nvSpPr>
          <p:cNvPr id="22" name="Shape 20"/>
          <p:cNvSpPr/>
          <p:nvPr/>
        </p:nvSpPr>
        <p:spPr>
          <a:xfrm>
            <a:off x="9802368" y="3822192"/>
            <a:ext cx="1874520" cy="658368"/>
          </a:xfrm>
          <a:prstGeom prst="chevron">
            <a:avLst/>
          </a:prstGeom>
          <a:solidFill>
            <a:srgbClr val="EAF4FF"/>
          </a:solidFill>
          <a:ln w="12700">
            <a:solidFill>
              <a:srgbClr val="EAF4FF"/>
            </a:solidFill>
            <a:prstDash val="solid"/>
          </a:ln>
        </p:spPr>
        <p:txBody>
          <a:bodyPr/>
          <a:lstStyle/>
          <a:p>
            <a:endParaRPr lang="en-US"/>
          </a:p>
        </p:txBody>
      </p:sp>
      <p:sp>
        <p:nvSpPr>
          <p:cNvPr id="23" name="Text 21"/>
          <p:cNvSpPr/>
          <p:nvPr/>
        </p:nvSpPr>
        <p:spPr>
          <a:xfrm>
            <a:off x="9893808" y="4041648"/>
            <a:ext cx="1417320" cy="182880"/>
          </a:xfrm>
          <a:prstGeom prst="rect">
            <a:avLst/>
          </a:prstGeom>
          <a:noFill/>
          <a:ln/>
        </p:spPr>
        <p:txBody>
          <a:bodyPr wrap="square" lIns="0" tIns="0" rIns="0" bIns="0" rtlCol="0" anchor="ctr"/>
          <a:lstStyle/>
          <a:p>
            <a:pPr marL="0" indent="0" algn="ctr">
              <a:buNone/>
            </a:pPr>
            <a:r>
              <a:rPr lang="en-US" sz="1200" b="1" dirty="0">
                <a:solidFill>
                  <a:srgbClr val="1F2D3D"/>
                </a:solidFill>
              </a:rPr>
              <a:t>Dashboard</a:t>
            </a:r>
            <a:endParaRPr lang="en-US" sz="1200" dirty="0"/>
          </a:p>
        </p:txBody>
      </p:sp>
      <p:sp>
        <p:nvSpPr>
          <p:cNvPr id="24" name="Text 22"/>
          <p:cNvSpPr/>
          <p:nvPr/>
        </p:nvSpPr>
        <p:spPr>
          <a:xfrm>
            <a:off x="777240" y="5120640"/>
            <a:ext cx="2286000" cy="274320"/>
          </a:xfrm>
          <a:prstGeom prst="rect">
            <a:avLst/>
          </a:prstGeom>
          <a:noFill/>
          <a:ln/>
        </p:spPr>
        <p:txBody>
          <a:bodyPr wrap="square" lIns="0" tIns="0" rIns="0" bIns="0" rtlCol="0" anchor="ctr"/>
          <a:lstStyle/>
          <a:p>
            <a:pPr marL="0" indent="0">
              <a:buNone/>
            </a:pPr>
            <a:r>
              <a:rPr lang="en-US" sz="1800" b="1" dirty="0">
                <a:solidFill>
                  <a:srgbClr val="1F2D3D"/>
                </a:solidFill>
              </a:rPr>
              <a:t>Final deliverables</a:t>
            </a:r>
            <a:endParaRPr lang="en-US" sz="1800" dirty="0"/>
          </a:p>
        </p:txBody>
      </p:sp>
      <p:sp>
        <p:nvSpPr>
          <p:cNvPr id="25" name="Text 23"/>
          <p:cNvSpPr/>
          <p:nvPr/>
        </p:nvSpPr>
        <p:spPr>
          <a:xfrm>
            <a:off x="868680" y="5468112"/>
            <a:ext cx="10424160" cy="822960"/>
          </a:xfrm>
          <a:prstGeom prst="rect">
            <a:avLst/>
          </a:prstGeom>
          <a:noFill/>
          <a:ln/>
        </p:spPr>
        <p:txBody>
          <a:bodyPr wrap="square" lIns="635" tIns="635" rIns="635" bIns="635" rtlCol="0" anchor="ctr">
            <a:normAutofit/>
          </a:bodyPr>
          <a:lstStyle/>
          <a:p>
            <a:pPr marL="152400" indent="-152400">
              <a:buSzPct val="100000"/>
              <a:buChar char="•"/>
            </a:pPr>
            <a:r>
              <a:rPr lang="en-US" sz="1400" dirty="0">
                <a:solidFill>
                  <a:srgbClr val="323232"/>
                </a:solidFill>
                <a:latin typeface="Aptos" pitchFamily="34" charset="0"/>
                <a:ea typeface="Aptos" pitchFamily="34" charset="-122"/>
                <a:cs typeface="Aptos" pitchFamily="34" charset="-120"/>
              </a:rPr>
              <a:t>Jupyter notebooks for EDA, modeling, and scenario analysis</a:t>
            </a:r>
            <a:endParaRPr lang="en-US" sz="1400" dirty="0"/>
          </a:p>
          <a:p>
            <a:pPr marL="152400" indent="-152400">
              <a:buSzPct val="100000"/>
              <a:buChar char="•"/>
            </a:pPr>
            <a:r>
              <a:rPr lang="en-US" sz="1400" dirty="0">
                <a:solidFill>
                  <a:srgbClr val="323232"/>
                </a:solidFill>
                <a:latin typeface="Aptos" pitchFamily="34" charset="0"/>
                <a:ea typeface="Aptos" pitchFamily="34" charset="-122"/>
                <a:cs typeface="Aptos" pitchFamily="34" charset="-120"/>
              </a:rPr>
              <a:t>Power BI dashboard with interactive slicers</a:t>
            </a:r>
            <a:endParaRPr lang="en-US" sz="1400" dirty="0"/>
          </a:p>
          <a:p>
            <a:pPr marL="152400" indent="-152400">
              <a:buSzPct val="100000"/>
              <a:buChar char="•"/>
            </a:pPr>
            <a:r>
              <a:rPr lang="en-US" sz="1400" dirty="0">
                <a:solidFill>
                  <a:srgbClr val="323232"/>
                </a:solidFill>
                <a:latin typeface="Aptos" pitchFamily="34" charset="0"/>
                <a:ea typeface="Aptos" pitchFamily="34" charset="-122"/>
                <a:cs typeface="Aptos" pitchFamily="34" charset="-120"/>
              </a:rPr>
              <a:t>Final report, appendix, GitHub repository, and this presentation</a:t>
            </a:r>
            <a:endParaRPr lang="en-US" sz="1400" dirty="0"/>
          </a:p>
        </p:txBody>
      </p:sp>
      <p:sp>
        <p:nvSpPr>
          <p:cNvPr id="26" name="Text 24"/>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Dataset &amp; Preprocessing</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The training data were used because the Kaggle test file did not include SalePrice.</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sp>
        <p:nvSpPr>
          <p:cNvPr id="5" name="Text 3"/>
          <p:cNvSpPr/>
          <p:nvPr/>
        </p:nvSpPr>
        <p:spPr>
          <a:xfrm>
            <a:off x="685800" y="1417320"/>
            <a:ext cx="1691640" cy="411480"/>
          </a:xfrm>
          <a:prstGeom prst="rect">
            <a:avLst/>
          </a:prstGeom>
          <a:noFill/>
          <a:ln/>
        </p:spPr>
        <p:txBody>
          <a:bodyPr wrap="square" lIns="0" tIns="0" rIns="0" bIns="0" rtlCol="0" anchor="ctr"/>
          <a:lstStyle/>
          <a:p>
            <a:pPr marL="0" indent="0">
              <a:buNone/>
            </a:pPr>
            <a:r>
              <a:rPr lang="en-US" sz="2600" b="1" dirty="0">
                <a:solidFill>
                  <a:srgbClr val="1E8FF7"/>
                </a:solidFill>
              </a:rPr>
              <a:t>1,460</a:t>
            </a:r>
            <a:endParaRPr lang="en-US" sz="2600" dirty="0"/>
          </a:p>
        </p:txBody>
      </p:sp>
      <p:sp>
        <p:nvSpPr>
          <p:cNvPr id="6" name="Text 4"/>
          <p:cNvSpPr/>
          <p:nvPr/>
        </p:nvSpPr>
        <p:spPr>
          <a:xfrm>
            <a:off x="685800" y="1856232"/>
            <a:ext cx="1691640" cy="274320"/>
          </a:xfrm>
          <a:prstGeom prst="rect">
            <a:avLst/>
          </a:prstGeom>
          <a:noFill/>
          <a:ln/>
        </p:spPr>
        <p:txBody>
          <a:bodyPr wrap="square" lIns="0" tIns="0" rIns="0" bIns="0" rtlCol="0" anchor="ctr"/>
          <a:lstStyle/>
          <a:p>
            <a:pPr marL="0" indent="0">
              <a:buNone/>
            </a:pPr>
            <a:r>
              <a:rPr lang="en-US" sz="1150" dirty="0">
                <a:solidFill>
                  <a:srgbClr val="667085"/>
                </a:solidFill>
              </a:rPr>
              <a:t>Training records</a:t>
            </a:r>
            <a:endParaRPr lang="en-US" sz="1150" dirty="0"/>
          </a:p>
        </p:txBody>
      </p:sp>
      <p:sp>
        <p:nvSpPr>
          <p:cNvPr id="7" name="Text 5"/>
          <p:cNvSpPr/>
          <p:nvPr/>
        </p:nvSpPr>
        <p:spPr>
          <a:xfrm>
            <a:off x="2788920" y="1417320"/>
            <a:ext cx="1600200" cy="411480"/>
          </a:xfrm>
          <a:prstGeom prst="rect">
            <a:avLst/>
          </a:prstGeom>
          <a:noFill/>
          <a:ln/>
        </p:spPr>
        <p:txBody>
          <a:bodyPr wrap="square" lIns="0" tIns="0" rIns="0" bIns="0" rtlCol="0" anchor="ctr"/>
          <a:lstStyle/>
          <a:p>
            <a:pPr marL="0" indent="0">
              <a:buNone/>
            </a:pPr>
            <a:r>
              <a:rPr lang="en-US" sz="2600" b="1" dirty="0">
                <a:solidFill>
                  <a:srgbClr val="0A4EA3"/>
                </a:solidFill>
              </a:rPr>
              <a:t>24</a:t>
            </a:r>
            <a:endParaRPr lang="en-US" sz="2600" dirty="0"/>
          </a:p>
        </p:txBody>
      </p:sp>
      <p:sp>
        <p:nvSpPr>
          <p:cNvPr id="8" name="Text 6"/>
          <p:cNvSpPr/>
          <p:nvPr/>
        </p:nvSpPr>
        <p:spPr>
          <a:xfrm>
            <a:off x="2788920" y="1856232"/>
            <a:ext cx="1600200" cy="274320"/>
          </a:xfrm>
          <a:prstGeom prst="rect">
            <a:avLst/>
          </a:prstGeom>
          <a:noFill/>
          <a:ln/>
        </p:spPr>
        <p:txBody>
          <a:bodyPr wrap="square" lIns="0" tIns="0" rIns="0" bIns="0" rtlCol="0" anchor="ctr"/>
          <a:lstStyle/>
          <a:p>
            <a:pPr marL="0" indent="0">
              <a:buNone/>
            </a:pPr>
            <a:r>
              <a:rPr lang="en-US" sz="1150" dirty="0">
                <a:solidFill>
                  <a:srgbClr val="667085"/>
                </a:solidFill>
              </a:rPr>
              <a:t>Selected predictors</a:t>
            </a:r>
            <a:endParaRPr lang="en-US" sz="1150" dirty="0"/>
          </a:p>
        </p:txBody>
      </p:sp>
      <p:sp>
        <p:nvSpPr>
          <p:cNvPr id="9" name="Text 7"/>
          <p:cNvSpPr/>
          <p:nvPr/>
        </p:nvSpPr>
        <p:spPr>
          <a:xfrm>
            <a:off x="4617720" y="1417320"/>
            <a:ext cx="1417320" cy="411480"/>
          </a:xfrm>
          <a:prstGeom prst="rect">
            <a:avLst/>
          </a:prstGeom>
          <a:noFill/>
          <a:ln/>
        </p:spPr>
        <p:txBody>
          <a:bodyPr wrap="square" lIns="0" tIns="0" rIns="0" bIns="0" rtlCol="0" anchor="ctr"/>
          <a:lstStyle/>
          <a:p>
            <a:pPr marL="0" indent="0">
              <a:buNone/>
            </a:pPr>
            <a:r>
              <a:rPr lang="en-US" sz="2600" b="1" dirty="0">
                <a:solidFill>
                  <a:srgbClr val="00A86B"/>
                </a:solidFill>
              </a:rPr>
              <a:t>88</a:t>
            </a:r>
            <a:endParaRPr lang="en-US" sz="2600" dirty="0"/>
          </a:p>
        </p:txBody>
      </p:sp>
      <p:sp>
        <p:nvSpPr>
          <p:cNvPr id="10" name="Text 8"/>
          <p:cNvSpPr/>
          <p:nvPr/>
        </p:nvSpPr>
        <p:spPr>
          <a:xfrm>
            <a:off x="4617720" y="1856232"/>
            <a:ext cx="1417320" cy="274320"/>
          </a:xfrm>
          <a:prstGeom prst="rect">
            <a:avLst/>
          </a:prstGeom>
          <a:noFill/>
          <a:ln/>
        </p:spPr>
        <p:txBody>
          <a:bodyPr wrap="square" lIns="0" tIns="0" rIns="0" bIns="0" rtlCol="0" anchor="ctr"/>
          <a:lstStyle/>
          <a:p>
            <a:pPr marL="0" indent="0">
              <a:buNone/>
            </a:pPr>
            <a:r>
              <a:rPr lang="en-US" sz="1150" dirty="0">
                <a:solidFill>
                  <a:srgbClr val="667085"/>
                </a:solidFill>
              </a:rPr>
              <a:t>Processed inputs</a:t>
            </a:r>
            <a:endParaRPr lang="en-US" sz="1150" dirty="0"/>
          </a:p>
        </p:txBody>
      </p:sp>
      <p:sp>
        <p:nvSpPr>
          <p:cNvPr id="11" name="Shape 9"/>
          <p:cNvSpPr/>
          <p:nvPr/>
        </p:nvSpPr>
        <p:spPr>
          <a:xfrm>
            <a:off x="685800" y="2514600"/>
            <a:ext cx="5440680" cy="2999232"/>
          </a:xfrm>
          <a:prstGeom prst="roundRect">
            <a:avLst>
              <a:gd name="adj" fmla="val 1524"/>
            </a:avLst>
          </a:prstGeom>
          <a:solidFill>
            <a:srgbClr val="FFFFFF"/>
          </a:solidFill>
          <a:ln w="10160">
            <a:solidFill>
              <a:srgbClr val="D8DEE9"/>
            </a:solidFill>
            <a:prstDash val="solid"/>
          </a:ln>
        </p:spPr>
        <p:txBody>
          <a:bodyPr/>
          <a:lstStyle/>
          <a:p>
            <a:endParaRPr lang="en-US"/>
          </a:p>
        </p:txBody>
      </p:sp>
      <p:sp>
        <p:nvSpPr>
          <p:cNvPr id="12" name="Text 10"/>
          <p:cNvSpPr/>
          <p:nvPr/>
        </p:nvSpPr>
        <p:spPr>
          <a:xfrm>
            <a:off x="960120" y="2788920"/>
            <a:ext cx="3474720" cy="320040"/>
          </a:xfrm>
          <a:prstGeom prst="rect">
            <a:avLst/>
          </a:prstGeom>
          <a:noFill/>
          <a:ln/>
        </p:spPr>
        <p:txBody>
          <a:bodyPr wrap="square" lIns="0" tIns="0" rIns="0" bIns="0" rtlCol="0" anchor="ctr"/>
          <a:lstStyle/>
          <a:p>
            <a:pPr marL="0" indent="0">
              <a:buNone/>
            </a:pPr>
            <a:r>
              <a:rPr lang="en-US" sz="1900" b="1" dirty="0">
                <a:solidFill>
                  <a:srgbClr val="1F2D3D"/>
                </a:solidFill>
              </a:rPr>
              <a:t>Preprocessing decisions</a:t>
            </a:r>
            <a:endParaRPr lang="en-US" sz="1900" dirty="0"/>
          </a:p>
        </p:txBody>
      </p:sp>
      <p:sp>
        <p:nvSpPr>
          <p:cNvPr id="13" name="Text 11"/>
          <p:cNvSpPr/>
          <p:nvPr/>
        </p:nvSpPr>
        <p:spPr>
          <a:xfrm>
            <a:off x="960120" y="3246120"/>
            <a:ext cx="4800600" cy="1737360"/>
          </a:xfrm>
          <a:prstGeom prst="rect">
            <a:avLst/>
          </a:prstGeom>
          <a:noFill/>
          <a:ln/>
        </p:spPr>
        <p:txBody>
          <a:bodyPr wrap="square" lIns="635" tIns="635" rIns="635" bIns="635" rtlCol="0" anchor="ctr">
            <a:normAutofit/>
          </a:bodyPr>
          <a:lstStyle/>
          <a:p>
            <a:pPr marL="152400" indent="-152400">
              <a:buSzPct val="100000"/>
              <a:buChar char="•"/>
            </a:pPr>
            <a:r>
              <a:rPr lang="en-US" sz="1350" dirty="0">
                <a:solidFill>
                  <a:srgbClr val="323232"/>
                </a:solidFill>
                <a:latin typeface="Aptos" pitchFamily="34" charset="0"/>
                <a:ea typeface="Aptos" pitchFamily="34" charset="-122"/>
                <a:cs typeface="Aptos" pitchFamily="34" charset="-120"/>
              </a:rPr>
              <a:t>Handled missing values based on feature meaning, not just a blanket median fill</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One-hot encoded categorical features such as Neighborhood and Condition</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Standardized numerical features for neural network training</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Log-transformed SalePrice to reduce skew before model training</a:t>
            </a:r>
            <a:endParaRPr lang="en-US" sz="1350" dirty="0"/>
          </a:p>
        </p:txBody>
      </p:sp>
      <p:sp>
        <p:nvSpPr>
          <p:cNvPr id="14" name="Shape 12"/>
          <p:cNvSpPr/>
          <p:nvPr/>
        </p:nvSpPr>
        <p:spPr>
          <a:xfrm>
            <a:off x="6537960" y="1417320"/>
            <a:ext cx="4754880" cy="4096512"/>
          </a:xfrm>
          <a:prstGeom prst="roundRect">
            <a:avLst>
              <a:gd name="adj" fmla="val 1116"/>
            </a:avLst>
          </a:prstGeom>
          <a:solidFill>
            <a:srgbClr val="FFFFFF"/>
          </a:solidFill>
          <a:ln w="10160">
            <a:solidFill>
              <a:srgbClr val="D8DEE9"/>
            </a:solidFill>
            <a:prstDash val="solid"/>
          </a:ln>
        </p:spPr>
        <p:txBody>
          <a:bodyPr/>
          <a:lstStyle/>
          <a:p>
            <a:endParaRPr lang="en-US"/>
          </a:p>
        </p:txBody>
      </p:sp>
      <p:sp>
        <p:nvSpPr>
          <p:cNvPr id="15" name="Text 13"/>
          <p:cNvSpPr/>
          <p:nvPr/>
        </p:nvSpPr>
        <p:spPr>
          <a:xfrm>
            <a:off x="6812280" y="1719072"/>
            <a:ext cx="3474720" cy="320040"/>
          </a:xfrm>
          <a:prstGeom prst="rect">
            <a:avLst/>
          </a:prstGeom>
          <a:noFill/>
          <a:ln/>
        </p:spPr>
        <p:txBody>
          <a:bodyPr wrap="square" lIns="0" tIns="0" rIns="0" bIns="0" rtlCol="0" anchor="ctr"/>
          <a:lstStyle/>
          <a:p>
            <a:pPr marL="0" indent="0">
              <a:buNone/>
            </a:pPr>
            <a:r>
              <a:rPr lang="en-US" sz="1900" b="1" dirty="0">
                <a:solidFill>
                  <a:srgbClr val="1F2D3D"/>
                </a:solidFill>
              </a:rPr>
              <a:t>Engineered features</a:t>
            </a:r>
            <a:endParaRPr lang="en-US" sz="1900" dirty="0"/>
          </a:p>
        </p:txBody>
      </p:sp>
      <p:sp>
        <p:nvSpPr>
          <p:cNvPr id="16" name="Shape 14"/>
          <p:cNvSpPr/>
          <p:nvPr/>
        </p:nvSpPr>
        <p:spPr>
          <a:xfrm>
            <a:off x="6812280" y="2240280"/>
            <a:ext cx="4160520" cy="457200"/>
          </a:xfrm>
          <a:prstGeom prst="roundRect">
            <a:avLst>
              <a:gd name="adj" fmla="val 12000"/>
            </a:avLst>
          </a:prstGeom>
          <a:solidFill>
            <a:srgbClr val="EAF4FF"/>
          </a:solidFill>
          <a:ln w="5080">
            <a:solidFill>
              <a:srgbClr val="D8DEE9"/>
            </a:solidFill>
            <a:prstDash val="solid"/>
          </a:ln>
        </p:spPr>
        <p:txBody>
          <a:bodyPr/>
          <a:lstStyle/>
          <a:p>
            <a:endParaRPr lang="en-US"/>
          </a:p>
        </p:txBody>
      </p:sp>
      <p:sp>
        <p:nvSpPr>
          <p:cNvPr id="17" name="Text 15"/>
          <p:cNvSpPr/>
          <p:nvPr/>
        </p:nvSpPr>
        <p:spPr>
          <a:xfrm>
            <a:off x="6976872" y="2359152"/>
            <a:ext cx="1783080" cy="182880"/>
          </a:xfrm>
          <a:prstGeom prst="rect">
            <a:avLst/>
          </a:prstGeom>
          <a:noFill/>
          <a:ln/>
        </p:spPr>
        <p:txBody>
          <a:bodyPr wrap="square" lIns="0" tIns="0" rIns="0" bIns="0" rtlCol="0" anchor="ctr"/>
          <a:lstStyle/>
          <a:p>
            <a:pPr marL="0" indent="0">
              <a:buNone/>
            </a:pPr>
            <a:r>
              <a:rPr lang="en-US" sz="1100" b="1" dirty="0">
                <a:solidFill>
                  <a:srgbClr val="0A4EA3"/>
                </a:solidFill>
              </a:rPr>
              <a:t>HomeAgeAtSale</a:t>
            </a:r>
            <a:endParaRPr lang="en-US" sz="1100" dirty="0"/>
          </a:p>
        </p:txBody>
      </p:sp>
      <p:sp>
        <p:nvSpPr>
          <p:cNvPr id="18" name="Text 16"/>
          <p:cNvSpPr/>
          <p:nvPr/>
        </p:nvSpPr>
        <p:spPr>
          <a:xfrm>
            <a:off x="8778240" y="2359152"/>
            <a:ext cx="2011680" cy="182880"/>
          </a:xfrm>
          <a:prstGeom prst="rect">
            <a:avLst/>
          </a:prstGeom>
          <a:noFill/>
          <a:ln/>
        </p:spPr>
        <p:txBody>
          <a:bodyPr wrap="square" lIns="0" tIns="0" rIns="0" bIns="0" rtlCol="0" anchor="ctr"/>
          <a:lstStyle/>
          <a:p>
            <a:pPr marL="0" indent="0">
              <a:buNone/>
            </a:pPr>
            <a:r>
              <a:rPr lang="en-US" sz="1050" dirty="0">
                <a:solidFill>
                  <a:srgbClr val="323232"/>
                </a:solidFill>
              </a:rPr>
              <a:t>Age of home when sold</a:t>
            </a:r>
            <a:endParaRPr lang="en-US" sz="1050" dirty="0"/>
          </a:p>
        </p:txBody>
      </p:sp>
      <p:sp>
        <p:nvSpPr>
          <p:cNvPr id="19" name="Shape 17"/>
          <p:cNvSpPr/>
          <p:nvPr/>
        </p:nvSpPr>
        <p:spPr>
          <a:xfrm>
            <a:off x="6812280" y="2907792"/>
            <a:ext cx="4160520" cy="457200"/>
          </a:xfrm>
          <a:prstGeom prst="roundRect">
            <a:avLst>
              <a:gd name="adj" fmla="val 12000"/>
            </a:avLst>
          </a:prstGeom>
          <a:solidFill>
            <a:srgbClr val="FFFFFF"/>
          </a:solidFill>
          <a:ln w="5080">
            <a:solidFill>
              <a:srgbClr val="D8DEE9"/>
            </a:solidFill>
            <a:prstDash val="solid"/>
          </a:ln>
        </p:spPr>
        <p:txBody>
          <a:bodyPr/>
          <a:lstStyle/>
          <a:p>
            <a:endParaRPr lang="en-US"/>
          </a:p>
        </p:txBody>
      </p:sp>
      <p:sp>
        <p:nvSpPr>
          <p:cNvPr id="20" name="Text 18"/>
          <p:cNvSpPr/>
          <p:nvPr/>
        </p:nvSpPr>
        <p:spPr>
          <a:xfrm>
            <a:off x="6976872" y="3026664"/>
            <a:ext cx="1783080" cy="182880"/>
          </a:xfrm>
          <a:prstGeom prst="rect">
            <a:avLst/>
          </a:prstGeom>
          <a:noFill/>
          <a:ln/>
        </p:spPr>
        <p:txBody>
          <a:bodyPr wrap="square" lIns="0" tIns="0" rIns="0" bIns="0" rtlCol="0" anchor="ctr"/>
          <a:lstStyle/>
          <a:p>
            <a:pPr marL="0" indent="0">
              <a:buNone/>
            </a:pPr>
            <a:r>
              <a:rPr lang="en-US" sz="1100" b="1" dirty="0">
                <a:solidFill>
                  <a:srgbClr val="0A4EA3"/>
                </a:solidFill>
              </a:rPr>
              <a:t>YearsSinceRemodel</a:t>
            </a:r>
            <a:endParaRPr lang="en-US" sz="1100" dirty="0"/>
          </a:p>
        </p:txBody>
      </p:sp>
      <p:sp>
        <p:nvSpPr>
          <p:cNvPr id="21" name="Text 19"/>
          <p:cNvSpPr/>
          <p:nvPr/>
        </p:nvSpPr>
        <p:spPr>
          <a:xfrm>
            <a:off x="8778240" y="3026664"/>
            <a:ext cx="2011680" cy="182880"/>
          </a:xfrm>
          <a:prstGeom prst="rect">
            <a:avLst/>
          </a:prstGeom>
          <a:noFill/>
          <a:ln/>
        </p:spPr>
        <p:txBody>
          <a:bodyPr wrap="square" lIns="0" tIns="0" rIns="0" bIns="0" rtlCol="0" anchor="ctr"/>
          <a:lstStyle/>
          <a:p>
            <a:pPr marL="0" indent="0">
              <a:buNone/>
            </a:pPr>
            <a:r>
              <a:rPr lang="en-US" sz="1050" dirty="0">
                <a:solidFill>
                  <a:srgbClr val="323232"/>
                </a:solidFill>
              </a:rPr>
              <a:t>Time since latest remodel</a:t>
            </a:r>
            <a:endParaRPr lang="en-US" sz="1050" dirty="0"/>
          </a:p>
        </p:txBody>
      </p:sp>
      <p:sp>
        <p:nvSpPr>
          <p:cNvPr id="22" name="Shape 20"/>
          <p:cNvSpPr/>
          <p:nvPr/>
        </p:nvSpPr>
        <p:spPr>
          <a:xfrm>
            <a:off x="6812280" y="3575304"/>
            <a:ext cx="4160520" cy="457200"/>
          </a:xfrm>
          <a:prstGeom prst="roundRect">
            <a:avLst>
              <a:gd name="adj" fmla="val 12000"/>
            </a:avLst>
          </a:prstGeom>
          <a:solidFill>
            <a:srgbClr val="EAF4FF"/>
          </a:solidFill>
          <a:ln w="5080">
            <a:solidFill>
              <a:srgbClr val="D8DEE9"/>
            </a:solidFill>
            <a:prstDash val="solid"/>
          </a:ln>
        </p:spPr>
        <p:txBody>
          <a:bodyPr/>
          <a:lstStyle/>
          <a:p>
            <a:endParaRPr lang="en-US"/>
          </a:p>
        </p:txBody>
      </p:sp>
      <p:sp>
        <p:nvSpPr>
          <p:cNvPr id="23" name="Text 21"/>
          <p:cNvSpPr/>
          <p:nvPr/>
        </p:nvSpPr>
        <p:spPr>
          <a:xfrm>
            <a:off x="6976872" y="3694176"/>
            <a:ext cx="1783080" cy="182880"/>
          </a:xfrm>
          <a:prstGeom prst="rect">
            <a:avLst/>
          </a:prstGeom>
          <a:noFill/>
          <a:ln/>
        </p:spPr>
        <p:txBody>
          <a:bodyPr wrap="square" lIns="0" tIns="0" rIns="0" bIns="0" rtlCol="0" anchor="ctr"/>
          <a:lstStyle/>
          <a:p>
            <a:pPr marL="0" indent="0">
              <a:buNone/>
            </a:pPr>
            <a:r>
              <a:rPr lang="en-US" sz="1100" b="1" dirty="0">
                <a:solidFill>
                  <a:srgbClr val="0A4EA3"/>
                </a:solidFill>
              </a:rPr>
              <a:t>IsRemodeled</a:t>
            </a:r>
            <a:endParaRPr lang="en-US" sz="1100" dirty="0"/>
          </a:p>
        </p:txBody>
      </p:sp>
      <p:sp>
        <p:nvSpPr>
          <p:cNvPr id="24" name="Text 22"/>
          <p:cNvSpPr/>
          <p:nvPr/>
        </p:nvSpPr>
        <p:spPr>
          <a:xfrm>
            <a:off x="8778240" y="3694176"/>
            <a:ext cx="2011680" cy="182880"/>
          </a:xfrm>
          <a:prstGeom prst="rect">
            <a:avLst/>
          </a:prstGeom>
          <a:noFill/>
          <a:ln/>
        </p:spPr>
        <p:txBody>
          <a:bodyPr wrap="square" lIns="0" tIns="0" rIns="0" bIns="0" rtlCol="0" anchor="ctr"/>
          <a:lstStyle/>
          <a:p>
            <a:pPr marL="0" indent="0">
              <a:buNone/>
            </a:pPr>
            <a:r>
              <a:rPr lang="en-US" sz="1050" dirty="0">
                <a:solidFill>
                  <a:srgbClr val="323232"/>
                </a:solidFill>
              </a:rPr>
              <a:t>Remodeled vs. not remodeled</a:t>
            </a:r>
            <a:endParaRPr lang="en-US" sz="1050" dirty="0"/>
          </a:p>
        </p:txBody>
      </p:sp>
      <p:sp>
        <p:nvSpPr>
          <p:cNvPr id="25" name="Shape 23"/>
          <p:cNvSpPr/>
          <p:nvPr/>
        </p:nvSpPr>
        <p:spPr>
          <a:xfrm>
            <a:off x="6812280" y="4242816"/>
            <a:ext cx="4160520" cy="457200"/>
          </a:xfrm>
          <a:prstGeom prst="roundRect">
            <a:avLst>
              <a:gd name="adj" fmla="val 12000"/>
            </a:avLst>
          </a:prstGeom>
          <a:solidFill>
            <a:srgbClr val="FFFFFF"/>
          </a:solidFill>
          <a:ln w="5080">
            <a:solidFill>
              <a:srgbClr val="D8DEE9"/>
            </a:solidFill>
            <a:prstDash val="solid"/>
          </a:ln>
        </p:spPr>
        <p:txBody>
          <a:bodyPr/>
          <a:lstStyle/>
          <a:p>
            <a:endParaRPr lang="en-US"/>
          </a:p>
        </p:txBody>
      </p:sp>
      <p:sp>
        <p:nvSpPr>
          <p:cNvPr id="26" name="Text 24"/>
          <p:cNvSpPr/>
          <p:nvPr/>
        </p:nvSpPr>
        <p:spPr>
          <a:xfrm>
            <a:off x="6976872" y="4361688"/>
            <a:ext cx="1783080" cy="182880"/>
          </a:xfrm>
          <a:prstGeom prst="rect">
            <a:avLst/>
          </a:prstGeom>
          <a:noFill/>
          <a:ln/>
        </p:spPr>
        <p:txBody>
          <a:bodyPr wrap="square" lIns="0" tIns="0" rIns="0" bIns="0" rtlCol="0" anchor="ctr"/>
          <a:lstStyle/>
          <a:p>
            <a:pPr marL="0" indent="0">
              <a:buNone/>
            </a:pPr>
            <a:r>
              <a:rPr lang="en-US" sz="1100" b="1" dirty="0">
                <a:solidFill>
                  <a:srgbClr val="0A4EA3"/>
                </a:solidFill>
              </a:rPr>
              <a:t>Neighborhood price patterns</a:t>
            </a:r>
            <a:endParaRPr lang="en-US" sz="1100" dirty="0"/>
          </a:p>
        </p:txBody>
      </p:sp>
      <p:sp>
        <p:nvSpPr>
          <p:cNvPr id="27" name="Text 25"/>
          <p:cNvSpPr/>
          <p:nvPr/>
        </p:nvSpPr>
        <p:spPr>
          <a:xfrm>
            <a:off x="8778240" y="4361688"/>
            <a:ext cx="2011680" cy="182880"/>
          </a:xfrm>
          <a:prstGeom prst="rect">
            <a:avLst/>
          </a:prstGeom>
          <a:noFill/>
          <a:ln/>
        </p:spPr>
        <p:txBody>
          <a:bodyPr wrap="square" lIns="0" tIns="0" rIns="0" bIns="0" rtlCol="0" anchor="ctr"/>
          <a:lstStyle/>
          <a:p>
            <a:pPr marL="0" indent="0">
              <a:buNone/>
            </a:pPr>
            <a:r>
              <a:rPr lang="en-US" sz="1050" dirty="0">
                <a:solidFill>
                  <a:srgbClr val="323232"/>
                </a:solidFill>
              </a:rPr>
              <a:t>Location impact analysis</a:t>
            </a:r>
            <a:endParaRPr lang="en-US" sz="1050" dirty="0"/>
          </a:p>
        </p:txBody>
      </p:sp>
      <p:sp>
        <p:nvSpPr>
          <p:cNvPr id="28" name="Text 26"/>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EDA Findings: What Drove SalePrice?</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Correlation and distribution results pointed to quality, size, age, renovation, and location.</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graphicFrame>
        <p:nvGraphicFramePr>
          <p:cNvPr id="5" name="Chart 0"/>
          <p:cNvGraphicFramePr/>
          <p:nvPr/>
        </p:nvGraphicFramePr>
        <p:xfrm>
          <a:off x="685800" y="1325880"/>
          <a:ext cx="608076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86600" y="1325880"/>
            <a:ext cx="4389120" cy="4069080"/>
          </a:xfrm>
          <a:prstGeom prst="roundRect">
            <a:avLst>
              <a:gd name="adj" fmla="val 1124"/>
            </a:avLst>
          </a:prstGeom>
          <a:solidFill>
            <a:srgbClr val="FFFFFF"/>
          </a:solidFill>
          <a:ln w="10160">
            <a:solidFill>
              <a:srgbClr val="D8DEE9"/>
            </a:solidFill>
            <a:prstDash val="solid"/>
          </a:ln>
        </p:spPr>
        <p:txBody>
          <a:bodyPr/>
          <a:lstStyle/>
          <a:p>
            <a:endParaRPr lang="en-US"/>
          </a:p>
        </p:txBody>
      </p:sp>
      <p:sp>
        <p:nvSpPr>
          <p:cNvPr id="7" name="Text 4"/>
          <p:cNvSpPr/>
          <p:nvPr/>
        </p:nvSpPr>
        <p:spPr>
          <a:xfrm>
            <a:off x="7360920" y="1600200"/>
            <a:ext cx="3383280" cy="320040"/>
          </a:xfrm>
          <a:prstGeom prst="rect">
            <a:avLst/>
          </a:prstGeom>
          <a:noFill/>
          <a:ln/>
        </p:spPr>
        <p:txBody>
          <a:bodyPr wrap="square" lIns="0" tIns="0" rIns="0" bIns="0" rtlCol="0" anchor="ctr"/>
          <a:lstStyle/>
          <a:p>
            <a:pPr marL="0" indent="0">
              <a:buNone/>
            </a:pPr>
            <a:r>
              <a:rPr lang="en-US" sz="2000" b="1" dirty="0">
                <a:solidFill>
                  <a:srgbClr val="1F2D3D"/>
                </a:solidFill>
              </a:rPr>
              <a:t>Key EDA takeaways</a:t>
            </a:r>
            <a:endParaRPr lang="en-US" sz="2000" dirty="0"/>
          </a:p>
        </p:txBody>
      </p:sp>
      <p:sp>
        <p:nvSpPr>
          <p:cNvPr id="8" name="Text 5"/>
          <p:cNvSpPr/>
          <p:nvPr/>
        </p:nvSpPr>
        <p:spPr>
          <a:xfrm>
            <a:off x="7360920" y="2057400"/>
            <a:ext cx="3749040" cy="1965960"/>
          </a:xfrm>
          <a:prstGeom prst="rect">
            <a:avLst/>
          </a:prstGeom>
          <a:noFill/>
          <a:ln/>
        </p:spPr>
        <p:txBody>
          <a:bodyPr wrap="square" lIns="635" tIns="635" rIns="635" bIns="635" rtlCol="0" anchor="ctr">
            <a:normAutofit/>
          </a:bodyPr>
          <a:lstStyle/>
          <a:p>
            <a:pPr marL="152400" indent="-152400">
              <a:buSzPct val="100000"/>
              <a:buChar char="•"/>
            </a:pPr>
            <a:r>
              <a:rPr lang="en-US" sz="1400" dirty="0">
                <a:solidFill>
                  <a:srgbClr val="323232"/>
                </a:solidFill>
                <a:latin typeface="Aptos" pitchFamily="34" charset="0"/>
                <a:ea typeface="Aptos" pitchFamily="34" charset="-122"/>
                <a:cs typeface="Aptos" pitchFamily="34" charset="-120"/>
              </a:rPr>
              <a:t>SalePrice was right-skewed; mean was higher than median</a:t>
            </a:r>
            <a:endParaRPr lang="en-US" sz="1400" dirty="0"/>
          </a:p>
          <a:p>
            <a:pPr marL="152400" indent="-152400">
              <a:buSzPct val="100000"/>
              <a:buChar char="•"/>
            </a:pPr>
            <a:r>
              <a:rPr lang="en-US" sz="1400" dirty="0">
                <a:solidFill>
                  <a:srgbClr val="323232"/>
                </a:solidFill>
                <a:latin typeface="Aptos" pitchFamily="34" charset="0"/>
                <a:ea typeface="Aptos" pitchFamily="34" charset="-122"/>
                <a:cs typeface="Aptos" pitchFamily="34" charset="-120"/>
              </a:rPr>
              <a:t>Potential outliers appeared in SalePrice, GrLivArea, and LotArea</a:t>
            </a:r>
            <a:endParaRPr lang="en-US" sz="1400" dirty="0"/>
          </a:p>
          <a:p>
            <a:pPr marL="152400" indent="-152400">
              <a:buSzPct val="100000"/>
              <a:buChar char="•"/>
            </a:pPr>
            <a:r>
              <a:rPr lang="en-US" sz="1400" dirty="0">
                <a:solidFill>
                  <a:srgbClr val="323232"/>
                </a:solidFill>
                <a:latin typeface="Aptos" pitchFamily="34" charset="0"/>
                <a:ea typeface="Aptos" pitchFamily="34" charset="-122"/>
                <a:cs typeface="Aptos" pitchFamily="34" charset="-120"/>
              </a:rPr>
              <a:t>Newer homes and recently remodeled homes tended to perform better</a:t>
            </a:r>
            <a:endParaRPr lang="en-US" sz="1400" dirty="0"/>
          </a:p>
          <a:p>
            <a:pPr marL="152400" indent="-152400">
              <a:buSzPct val="100000"/>
              <a:buChar char="•"/>
            </a:pPr>
            <a:r>
              <a:rPr lang="en-US" sz="1400" dirty="0">
                <a:solidFill>
                  <a:srgbClr val="323232"/>
                </a:solidFill>
                <a:latin typeface="Aptos" pitchFamily="34" charset="0"/>
                <a:ea typeface="Aptos" pitchFamily="34" charset="-122"/>
                <a:cs typeface="Aptos" pitchFamily="34" charset="-120"/>
              </a:rPr>
              <a:t>Neighborhood showed clear median price differences</a:t>
            </a:r>
            <a:endParaRPr lang="en-US" sz="1400" dirty="0"/>
          </a:p>
        </p:txBody>
      </p:sp>
      <p:pic>
        <p:nvPicPr>
          <p:cNvPr id="9" name="Image 0" descr="/mnt/data/Screenshot 2026-05-26 at 1.06.14 AM.png"/>
          <p:cNvPicPr>
            <a:picLocks noChangeAspect="1"/>
          </p:cNvPicPr>
          <p:nvPr/>
        </p:nvPicPr>
        <p:blipFill>
          <a:blip r:embed="rId4"/>
          <a:stretch>
            <a:fillRect/>
          </a:stretch>
        </p:blipFill>
        <p:spPr>
          <a:xfrm>
            <a:off x="8579325" y="4059936"/>
            <a:ext cx="1175070" cy="868680"/>
          </a:xfrm>
          <a:prstGeom prst="rect">
            <a:avLst/>
          </a:prstGeom>
        </p:spPr>
      </p:pic>
      <p:sp>
        <p:nvSpPr>
          <p:cNvPr id="10" name="Text 6"/>
          <p:cNvSpPr/>
          <p:nvPr/>
        </p:nvSpPr>
        <p:spPr>
          <a:xfrm>
            <a:off x="7360920" y="4983480"/>
            <a:ext cx="3611880" cy="256032"/>
          </a:xfrm>
          <a:prstGeom prst="rect">
            <a:avLst/>
          </a:prstGeom>
          <a:noFill/>
          <a:ln/>
        </p:spPr>
        <p:txBody>
          <a:bodyPr wrap="square" lIns="0" tIns="0" rIns="0" bIns="0" rtlCol="0" anchor="ctr"/>
          <a:lstStyle/>
          <a:p>
            <a:pPr marL="0" indent="0">
              <a:buNone/>
            </a:pPr>
            <a:r>
              <a:rPr lang="en-US" sz="1050" i="1" dirty="0">
                <a:solidFill>
                  <a:srgbClr val="667085"/>
                </a:solidFill>
              </a:rPr>
              <a:t>Correlation heatmap excerpt</a:t>
            </a:r>
            <a:endParaRPr lang="en-US" sz="1050" dirty="0"/>
          </a:p>
        </p:txBody>
      </p:sp>
      <p:sp>
        <p:nvSpPr>
          <p:cNvPr id="11" name="Text 7"/>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Feature Relationships</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Power BI visuals connected home age, living area, and remodeling patterns to SalePrice.</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pic>
        <p:nvPicPr>
          <p:cNvPr id="5" name="Image 0" descr="/mnt/data/Screenshot 2026-06-07 at 11.43.05 PM.png"/>
          <p:cNvPicPr>
            <a:picLocks noChangeAspect="1"/>
          </p:cNvPicPr>
          <p:nvPr/>
        </p:nvPicPr>
        <p:blipFill>
          <a:blip r:embed="rId3"/>
          <a:stretch>
            <a:fillRect/>
          </a:stretch>
        </p:blipFill>
        <p:spPr>
          <a:xfrm>
            <a:off x="530352" y="1561961"/>
            <a:ext cx="7452360" cy="4200421"/>
          </a:xfrm>
          <a:prstGeom prst="rect">
            <a:avLst/>
          </a:prstGeom>
        </p:spPr>
      </p:pic>
      <p:sp>
        <p:nvSpPr>
          <p:cNvPr id="6" name="Shape 3"/>
          <p:cNvSpPr/>
          <p:nvPr/>
        </p:nvSpPr>
        <p:spPr>
          <a:xfrm>
            <a:off x="8275320" y="1307592"/>
            <a:ext cx="3337560" cy="4709160"/>
          </a:xfrm>
          <a:prstGeom prst="roundRect">
            <a:avLst>
              <a:gd name="adj" fmla="val 1370"/>
            </a:avLst>
          </a:prstGeom>
          <a:solidFill>
            <a:srgbClr val="FFFFFF"/>
          </a:solidFill>
          <a:ln w="10160">
            <a:solidFill>
              <a:srgbClr val="D8DEE9"/>
            </a:solidFill>
            <a:prstDash val="solid"/>
          </a:ln>
        </p:spPr>
        <p:txBody>
          <a:bodyPr/>
          <a:lstStyle/>
          <a:p>
            <a:endParaRPr lang="en-US"/>
          </a:p>
        </p:txBody>
      </p:sp>
      <p:sp>
        <p:nvSpPr>
          <p:cNvPr id="7" name="Text 4"/>
          <p:cNvSpPr/>
          <p:nvPr/>
        </p:nvSpPr>
        <p:spPr>
          <a:xfrm>
            <a:off x="8485632" y="1591056"/>
            <a:ext cx="2834640" cy="320040"/>
          </a:xfrm>
          <a:prstGeom prst="rect">
            <a:avLst/>
          </a:prstGeom>
          <a:noFill/>
          <a:ln/>
        </p:spPr>
        <p:txBody>
          <a:bodyPr wrap="square" lIns="0" tIns="0" rIns="0" bIns="0" rtlCol="0" anchor="ctr"/>
          <a:lstStyle/>
          <a:p>
            <a:pPr marL="0" indent="0">
              <a:buNone/>
            </a:pPr>
            <a:r>
              <a:rPr lang="en-US" sz="1900" b="1" dirty="0">
                <a:solidFill>
                  <a:srgbClr val="1F2D3D"/>
                </a:solidFill>
              </a:rPr>
              <a:t>What the visuals showed</a:t>
            </a:r>
            <a:endParaRPr lang="en-US" sz="1900" dirty="0"/>
          </a:p>
        </p:txBody>
      </p:sp>
      <p:sp>
        <p:nvSpPr>
          <p:cNvPr id="8" name="Text 5"/>
          <p:cNvSpPr/>
          <p:nvPr/>
        </p:nvSpPr>
        <p:spPr>
          <a:xfrm>
            <a:off x="8485632" y="2057400"/>
            <a:ext cx="2743200" cy="2194560"/>
          </a:xfrm>
          <a:prstGeom prst="rect">
            <a:avLst/>
          </a:prstGeom>
          <a:noFill/>
          <a:ln/>
        </p:spPr>
        <p:txBody>
          <a:bodyPr wrap="square" lIns="635" tIns="635" rIns="635" bIns="635" rtlCol="0" anchor="ctr">
            <a:normAutofit/>
          </a:bodyPr>
          <a:lstStyle/>
          <a:p>
            <a:pPr marL="152400" indent="-152400">
              <a:buSzPct val="100000"/>
              <a:buChar char="•"/>
            </a:pPr>
            <a:r>
              <a:rPr lang="en-US" sz="1320" dirty="0">
                <a:solidFill>
                  <a:srgbClr val="323232"/>
                </a:solidFill>
                <a:latin typeface="Aptos" pitchFamily="34" charset="0"/>
                <a:ea typeface="Aptos" pitchFamily="34" charset="-122"/>
                <a:cs typeface="Aptos" pitchFamily="34" charset="-120"/>
              </a:rPr>
              <a:t>Living area had the clearest positive pattern with SalePrice</a:t>
            </a:r>
            <a:endParaRPr lang="en-US" sz="1320" dirty="0"/>
          </a:p>
          <a:p>
            <a:pPr marL="152400" indent="-152400">
              <a:buSzPct val="100000"/>
              <a:buChar char="•"/>
            </a:pPr>
            <a:r>
              <a:rPr lang="en-US" sz="1320" dirty="0">
                <a:solidFill>
                  <a:srgbClr val="323232"/>
                </a:solidFill>
                <a:latin typeface="Aptos" pitchFamily="34" charset="0"/>
                <a:ea typeface="Aptos" pitchFamily="34" charset="-122"/>
                <a:cs typeface="Aptos" pitchFamily="34" charset="-120"/>
              </a:rPr>
              <a:t>Newer homes generally showed stronger sale prices</a:t>
            </a:r>
            <a:endParaRPr lang="en-US" sz="1320" dirty="0"/>
          </a:p>
          <a:p>
            <a:pPr marL="152400" indent="-152400">
              <a:buSzPct val="100000"/>
              <a:buChar char="•"/>
            </a:pPr>
            <a:r>
              <a:rPr lang="en-US" sz="1320" dirty="0">
                <a:solidFill>
                  <a:srgbClr val="323232"/>
                </a:solidFill>
                <a:latin typeface="Aptos" pitchFamily="34" charset="0"/>
                <a:ea typeface="Aptos" pitchFamily="34" charset="-122"/>
                <a:cs typeface="Aptos" pitchFamily="34" charset="-120"/>
              </a:rPr>
              <a:t>Recent remodel indicators supported stronger predicted values</a:t>
            </a:r>
            <a:endParaRPr lang="en-US" sz="1320" dirty="0"/>
          </a:p>
          <a:p>
            <a:pPr marL="152400" indent="-152400">
              <a:buSzPct val="100000"/>
              <a:buChar char="•"/>
            </a:pPr>
            <a:r>
              <a:rPr lang="en-US" sz="1320" dirty="0">
                <a:solidFill>
                  <a:srgbClr val="323232"/>
                </a:solidFill>
                <a:latin typeface="Aptos" pitchFamily="34" charset="0"/>
                <a:ea typeface="Aptos" pitchFamily="34" charset="-122"/>
                <a:cs typeface="Aptos" pitchFamily="34" charset="-120"/>
              </a:rPr>
              <a:t>Slicers allowed users to explore neighborhood, quality, and remodel status</a:t>
            </a:r>
            <a:endParaRPr lang="en-US" sz="1320" dirty="0"/>
          </a:p>
        </p:txBody>
      </p:sp>
      <p:sp>
        <p:nvSpPr>
          <p:cNvPr id="9" name="Shape 6"/>
          <p:cNvSpPr/>
          <p:nvPr/>
        </p:nvSpPr>
        <p:spPr>
          <a:xfrm>
            <a:off x="8549640" y="4892040"/>
            <a:ext cx="2651760" cy="292608"/>
          </a:xfrm>
          <a:prstGeom prst="roundRect">
            <a:avLst>
              <a:gd name="adj" fmla="val 25000"/>
            </a:avLst>
          </a:prstGeom>
          <a:solidFill>
            <a:srgbClr val="EAF4FF"/>
          </a:solidFill>
          <a:ln w="12700">
            <a:solidFill>
              <a:srgbClr val="EAF4FF"/>
            </a:solidFill>
            <a:prstDash val="solid"/>
          </a:ln>
        </p:spPr>
        <p:txBody>
          <a:bodyPr/>
          <a:lstStyle/>
          <a:p>
            <a:endParaRPr lang="en-US"/>
          </a:p>
        </p:txBody>
      </p:sp>
      <p:sp>
        <p:nvSpPr>
          <p:cNvPr id="10" name="Text 7"/>
          <p:cNvSpPr/>
          <p:nvPr/>
        </p:nvSpPr>
        <p:spPr>
          <a:xfrm>
            <a:off x="8659368" y="4960620"/>
            <a:ext cx="2432304" cy="137160"/>
          </a:xfrm>
          <a:prstGeom prst="rect">
            <a:avLst/>
          </a:prstGeom>
          <a:noFill/>
          <a:ln/>
        </p:spPr>
        <p:txBody>
          <a:bodyPr wrap="square" lIns="0" tIns="0" rIns="0" bIns="0" rtlCol="0" anchor="ctr"/>
          <a:lstStyle/>
          <a:p>
            <a:pPr marL="0" indent="0" algn="ctr">
              <a:buNone/>
            </a:pPr>
            <a:r>
              <a:rPr lang="en-US" sz="950" b="1" dirty="0">
                <a:solidFill>
                  <a:srgbClr val="0A4EA3"/>
                </a:solidFill>
              </a:rPr>
              <a:t>Strongest visual pattern: Living Area</a:t>
            </a:r>
            <a:endParaRPr lang="en-US" sz="950" dirty="0"/>
          </a:p>
        </p:txBody>
      </p:sp>
      <p:sp>
        <p:nvSpPr>
          <p:cNvPr id="11" name="Text 8"/>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Model Performance</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Linear Regression outperformed the optimized Neural Network model.</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graphicFrame>
        <p:nvGraphicFramePr>
          <p:cNvPr id="5" name="Chart 0"/>
          <p:cNvGraphicFramePr/>
          <p:nvPr/>
        </p:nvGraphicFramePr>
        <p:xfrm>
          <a:off x="640080" y="1417320"/>
          <a:ext cx="5166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77240" y="4709160"/>
            <a:ext cx="2514600" cy="411480"/>
          </a:xfrm>
          <a:prstGeom prst="rect">
            <a:avLst/>
          </a:prstGeom>
          <a:noFill/>
          <a:ln/>
        </p:spPr>
        <p:txBody>
          <a:bodyPr wrap="square" lIns="0" tIns="0" rIns="0" bIns="0" rtlCol="0" anchor="ctr"/>
          <a:lstStyle/>
          <a:p>
            <a:pPr marL="0" indent="0">
              <a:buNone/>
            </a:pPr>
            <a:r>
              <a:rPr lang="en-US" sz="2600" b="1" dirty="0">
                <a:solidFill>
                  <a:srgbClr val="00A86B"/>
                </a:solidFill>
              </a:rPr>
              <a:t>0.886</a:t>
            </a:r>
            <a:endParaRPr lang="en-US" sz="2600" dirty="0"/>
          </a:p>
        </p:txBody>
      </p:sp>
      <p:sp>
        <p:nvSpPr>
          <p:cNvPr id="7" name="Text 4"/>
          <p:cNvSpPr/>
          <p:nvPr/>
        </p:nvSpPr>
        <p:spPr>
          <a:xfrm>
            <a:off x="777240" y="5148072"/>
            <a:ext cx="2514600" cy="274320"/>
          </a:xfrm>
          <a:prstGeom prst="rect">
            <a:avLst/>
          </a:prstGeom>
          <a:noFill/>
          <a:ln/>
        </p:spPr>
        <p:txBody>
          <a:bodyPr wrap="square" lIns="0" tIns="0" rIns="0" bIns="0" rtlCol="0" anchor="ctr"/>
          <a:lstStyle/>
          <a:p>
            <a:pPr marL="0" indent="0">
              <a:buNone/>
            </a:pPr>
            <a:r>
              <a:rPr lang="en-US" sz="1150" dirty="0">
                <a:solidFill>
                  <a:srgbClr val="667085"/>
                </a:solidFill>
              </a:rPr>
              <a:t>Linear Regression R²</a:t>
            </a:r>
            <a:endParaRPr lang="en-US" sz="1150" dirty="0"/>
          </a:p>
        </p:txBody>
      </p:sp>
      <p:sp>
        <p:nvSpPr>
          <p:cNvPr id="8" name="Text 5"/>
          <p:cNvSpPr/>
          <p:nvPr/>
        </p:nvSpPr>
        <p:spPr>
          <a:xfrm>
            <a:off x="3429000" y="4709160"/>
            <a:ext cx="2514600" cy="411480"/>
          </a:xfrm>
          <a:prstGeom prst="rect">
            <a:avLst/>
          </a:prstGeom>
          <a:noFill/>
          <a:ln/>
        </p:spPr>
        <p:txBody>
          <a:bodyPr wrap="square" lIns="0" tIns="0" rIns="0" bIns="0" rtlCol="0" anchor="ctr"/>
          <a:lstStyle/>
          <a:p>
            <a:pPr marL="0" indent="0">
              <a:buNone/>
            </a:pPr>
            <a:r>
              <a:rPr lang="en-US" sz="2600" b="1" dirty="0">
                <a:solidFill>
                  <a:srgbClr val="F5A623"/>
                </a:solidFill>
              </a:rPr>
              <a:t>0.720</a:t>
            </a:r>
            <a:endParaRPr lang="en-US" sz="2600" dirty="0"/>
          </a:p>
        </p:txBody>
      </p:sp>
      <p:sp>
        <p:nvSpPr>
          <p:cNvPr id="9" name="Text 6"/>
          <p:cNvSpPr/>
          <p:nvPr/>
        </p:nvSpPr>
        <p:spPr>
          <a:xfrm>
            <a:off x="3429000" y="5148072"/>
            <a:ext cx="2514600" cy="274320"/>
          </a:xfrm>
          <a:prstGeom prst="rect">
            <a:avLst/>
          </a:prstGeom>
          <a:noFill/>
          <a:ln/>
        </p:spPr>
        <p:txBody>
          <a:bodyPr wrap="square" lIns="0" tIns="0" rIns="0" bIns="0" rtlCol="0" anchor="ctr"/>
          <a:lstStyle/>
          <a:p>
            <a:pPr marL="0" indent="0">
              <a:buNone/>
            </a:pPr>
            <a:r>
              <a:rPr lang="en-US" sz="1150" dirty="0">
                <a:solidFill>
                  <a:srgbClr val="667085"/>
                </a:solidFill>
              </a:rPr>
              <a:t>Neural Network R²</a:t>
            </a:r>
            <a:endParaRPr lang="en-US" sz="1150" dirty="0"/>
          </a:p>
        </p:txBody>
      </p:sp>
      <p:pic>
        <p:nvPicPr>
          <p:cNvPr id="10" name="Image 0" descr="/mnt/data/Screenshot 2026-06-08 at 1.58.40 PM.png"/>
          <p:cNvPicPr>
            <a:picLocks noChangeAspect="1"/>
          </p:cNvPicPr>
          <p:nvPr/>
        </p:nvPicPr>
        <p:blipFill>
          <a:blip r:embed="rId4"/>
          <a:stretch>
            <a:fillRect/>
          </a:stretch>
        </p:blipFill>
        <p:spPr>
          <a:xfrm>
            <a:off x="6263640" y="1642249"/>
            <a:ext cx="2651760" cy="1516103"/>
          </a:xfrm>
          <a:prstGeom prst="rect">
            <a:avLst/>
          </a:prstGeom>
        </p:spPr>
      </p:pic>
      <p:pic>
        <p:nvPicPr>
          <p:cNvPr id="11" name="Image 1" descr="/mnt/data/Screenshot 2026-06-08 at 2.01.53 PM.png"/>
          <p:cNvPicPr>
            <a:picLocks noChangeAspect="1"/>
          </p:cNvPicPr>
          <p:nvPr/>
        </p:nvPicPr>
        <p:blipFill>
          <a:blip r:embed="rId5"/>
          <a:stretch>
            <a:fillRect/>
          </a:stretch>
        </p:blipFill>
        <p:spPr>
          <a:xfrm>
            <a:off x="9052560" y="1658095"/>
            <a:ext cx="2651760" cy="1484409"/>
          </a:xfrm>
          <a:prstGeom prst="rect">
            <a:avLst/>
          </a:prstGeom>
        </p:spPr>
      </p:pic>
      <p:sp>
        <p:nvSpPr>
          <p:cNvPr id="12" name="Text 7"/>
          <p:cNvSpPr/>
          <p:nvPr/>
        </p:nvSpPr>
        <p:spPr>
          <a:xfrm>
            <a:off x="6263640" y="3639312"/>
            <a:ext cx="5303520" cy="201168"/>
          </a:xfrm>
          <a:prstGeom prst="rect">
            <a:avLst/>
          </a:prstGeom>
          <a:noFill/>
          <a:ln/>
        </p:spPr>
        <p:txBody>
          <a:bodyPr wrap="square" lIns="0" tIns="0" rIns="0" bIns="0" rtlCol="0" anchor="ctr"/>
          <a:lstStyle/>
          <a:p>
            <a:pPr marL="0" indent="0" algn="ctr">
              <a:buNone/>
            </a:pPr>
            <a:r>
              <a:rPr lang="en-US" sz="1200" b="1" dirty="0">
                <a:solidFill>
                  <a:srgbClr val="1F2D3D"/>
                </a:solidFill>
              </a:rPr>
              <a:t>Actual vs. predicted plots</a:t>
            </a:r>
            <a:endParaRPr lang="en-US" sz="1200" dirty="0"/>
          </a:p>
        </p:txBody>
      </p:sp>
      <p:sp>
        <p:nvSpPr>
          <p:cNvPr id="13" name="Shape 8"/>
          <p:cNvSpPr/>
          <p:nvPr/>
        </p:nvSpPr>
        <p:spPr>
          <a:xfrm>
            <a:off x="6263640" y="3977640"/>
            <a:ext cx="5440680" cy="1325880"/>
          </a:xfrm>
          <a:prstGeom prst="roundRect">
            <a:avLst>
              <a:gd name="adj" fmla="val 3448"/>
            </a:avLst>
          </a:prstGeom>
          <a:solidFill>
            <a:srgbClr val="FFFFFF"/>
          </a:solidFill>
          <a:ln w="10160">
            <a:solidFill>
              <a:srgbClr val="D8DEE9"/>
            </a:solidFill>
            <a:prstDash val="solid"/>
          </a:ln>
        </p:spPr>
        <p:txBody>
          <a:bodyPr/>
          <a:lstStyle/>
          <a:p>
            <a:endParaRPr lang="en-US"/>
          </a:p>
        </p:txBody>
      </p:sp>
      <p:sp>
        <p:nvSpPr>
          <p:cNvPr id="14" name="Text 9"/>
          <p:cNvSpPr/>
          <p:nvPr/>
        </p:nvSpPr>
        <p:spPr>
          <a:xfrm>
            <a:off x="6446520" y="4169664"/>
            <a:ext cx="1463040" cy="228600"/>
          </a:xfrm>
          <a:prstGeom prst="rect">
            <a:avLst/>
          </a:prstGeom>
          <a:noFill/>
          <a:ln/>
        </p:spPr>
        <p:txBody>
          <a:bodyPr wrap="square" lIns="0" tIns="0" rIns="0" bIns="0" rtlCol="0" anchor="ctr"/>
          <a:lstStyle/>
          <a:p>
            <a:pPr marL="0" indent="0">
              <a:buNone/>
            </a:pPr>
            <a:r>
              <a:rPr lang="en-US" sz="1600" b="1" dirty="0">
                <a:solidFill>
                  <a:srgbClr val="1F2D3D"/>
                </a:solidFill>
              </a:rPr>
              <a:t>Interpretation</a:t>
            </a:r>
            <a:endParaRPr lang="en-US" sz="1600" dirty="0"/>
          </a:p>
        </p:txBody>
      </p:sp>
      <p:sp>
        <p:nvSpPr>
          <p:cNvPr id="15" name="Text 10"/>
          <p:cNvSpPr/>
          <p:nvPr/>
        </p:nvSpPr>
        <p:spPr>
          <a:xfrm>
            <a:off x="6446520" y="4498848"/>
            <a:ext cx="4937760" cy="502920"/>
          </a:xfrm>
          <a:prstGeom prst="rect">
            <a:avLst/>
          </a:prstGeom>
          <a:noFill/>
          <a:ln/>
        </p:spPr>
        <p:txBody>
          <a:bodyPr wrap="square" lIns="0" tIns="0" rIns="0" bIns="0" rtlCol="0" anchor="ctr">
            <a:normAutofit fontScale="92500"/>
          </a:bodyPr>
          <a:lstStyle/>
          <a:p>
            <a:pPr marL="0" indent="0">
              <a:buNone/>
            </a:pPr>
            <a:r>
              <a:rPr lang="en-US" sz="1350" dirty="0">
                <a:solidFill>
                  <a:srgbClr val="323232"/>
                </a:solidFill>
              </a:rPr>
              <a:t>The neural network improved after architecture changes, but the baseline Linear Regression model produced lower errors and a higher R².</a:t>
            </a:r>
            <a:endParaRPr lang="en-US" sz="1350" dirty="0"/>
          </a:p>
        </p:txBody>
      </p:sp>
      <p:sp>
        <p:nvSpPr>
          <p:cNvPr id="16" name="Text 11"/>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Scenario Analysis</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Three what-if scenarios tested how the neural network responded to controlled input changes.</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graphicFrame>
        <p:nvGraphicFramePr>
          <p:cNvPr id="5" name="Chart 0"/>
          <p:cNvGraphicFramePr/>
          <p:nvPr/>
        </p:nvGraphicFramePr>
        <p:xfrm>
          <a:off x="685800" y="1417320"/>
          <a:ext cx="58064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03720" y="1417320"/>
            <a:ext cx="4526280" cy="3794760"/>
          </a:xfrm>
          <a:prstGeom prst="roundRect">
            <a:avLst>
              <a:gd name="adj" fmla="val 1205"/>
            </a:avLst>
          </a:prstGeom>
          <a:solidFill>
            <a:srgbClr val="FFFFFF"/>
          </a:solidFill>
          <a:ln w="10160">
            <a:solidFill>
              <a:srgbClr val="D8DEE9"/>
            </a:solidFill>
            <a:prstDash val="solid"/>
          </a:ln>
        </p:spPr>
        <p:txBody>
          <a:bodyPr/>
          <a:lstStyle/>
          <a:p>
            <a:endParaRPr lang="en-US"/>
          </a:p>
        </p:txBody>
      </p:sp>
      <p:sp>
        <p:nvSpPr>
          <p:cNvPr id="7" name="Text 4"/>
          <p:cNvSpPr/>
          <p:nvPr/>
        </p:nvSpPr>
        <p:spPr>
          <a:xfrm>
            <a:off x="7150608" y="1700784"/>
            <a:ext cx="3977640" cy="256032"/>
          </a:xfrm>
          <a:prstGeom prst="rect">
            <a:avLst/>
          </a:prstGeom>
          <a:noFill/>
          <a:ln/>
        </p:spPr>
        <p:txBody>
          <a:bodyPr wrap="square" lIns="0" tIns="0" rIns="0" bIns="0" rtlCol="0" anchor="ctr"/>
          <a:lstStyle/>
          <a:p>
            <a:pPr marL="0" indent="0">
              <a:buNone/>
            </a:pPr>
            <a:r>
              <a:rPr lang="en-US" sz="1800" b="1" dirty="0">
                <a:solidFill>
                  <a:srgbClr val="1F2D3D"/>
                </a:solidFill>
              </a:rPr>
              <a:t>Average predicted price changes</a:t>
            </a:r>
            <a:endParaRPr lang="en-US" sz="1800" dirty="0"/>
          </a:p>
        </p:txBody>
      </p:sp>
      <p:sp>
        <p:nvSpPr>
          <p:cNvPr id="8" name="Text 5"/>
          <p:cNvSpPr/>
          <p:nvPr/>
        </p:nvSpPr>
        <p:spPr>
          <a:xfrm>
            <a:off x="7150608" y="2240280"/>
            <a:ext cx="1874520" cy="201168"/>
          </a:xfrm>
          <a:prstGeom prst="rect">
            <a:avLst/>
          </a:prstGeom>
          <a:noFill/>
          <a:ln/>
        </p:spPr>
        <p:txBody>
          <a:bodyPr wrap="square" lIns="0" tIns="0" rIns="0" bIns="0" rtlCol="0" anchor="ctr"/>
          <a:lstStyle/>
          <a:p>
            <a:pPr marL="0" indent="0">
              <a:buNone/>
            </a:pPr>
            <a:r>
              <a:rPr lang="en-US" sz="1100" b="1" dirty="0">
                <a:solidFill>
                  <a:srgbClr val="0A4EA3"/>
                </a:solidFill>
              </a:rPr>
              <a:t>Scenario</a:t>
            </a:r>
            <a:endParaRPr lang="en-US" sz="1100" dirty="0"/>
          </a:p>
        </p:txBody>
      </p:sp>
      <p:sp>
        <p:nvSpPr>
          <p:cNvPr id="9" name="Text 6"/>
          <p:cNvSpPr/>
          <p:nvPr/>
        </p:nvSpPr>
        <p:spPr>
          <a:xfrm>
            <a:off x="9098280" y="2240280"/>
            <a:ext cx="1005840" cy="201168"/>
          </a:xfrm>
          <a:prstGeom prst="rect">
            <a:avLst/>
          </a:prstGeom>
          <a:noFill/>
          <a:ln/>
        </p:spPr>
        <p:txBody>
          <a:bodyPr wrap="square" lIns="0" tIns="0" rIns="0" bIns="0" rtlCol="0" anchor="ctr"/>
          <a:lstStyle/>
          <a:p>
            <a:pPr marL="0" indent="0">
              <a:buNone/>
            </a:pPr>
            <a:r>
              <a:rPr lang="en-US" sz="1100" b="1" dirty="0">
                <a:solidFill>
                  <a:srgbClr val="0A4EA3"/>
                </a:solidFill>
              </a:rPr>
              <a:t>$ Change</a:t>
            </a:r>
            <a:endParaRPr lang="en-US" sz="1100" dirty="0"/>
          </a:p>
        </p:txBody>
      </p:sp>
      <p:sp>
        <p:nvSpPr>
          <p:cNvPr id="10" name="Text 7"/>
          <p:cNvSpPr/>
          <p:nvPr/>
        </p:nvSpPr>
        <p:spPr>
          <a:xfrm>
            <a:off x="10195560" y="2240280"/>
            <a:ext cx="914400" cy="201168"/>
          </a:xfrm>
          <a:prstGeom prst="rect">
            <a:avLst/>
          </a:prstGeom>
          <a:noFill/>
          <a:ln/>
        </p:spPr>
        <p:txBody>
          <a:bodyPr wrap="square" lIns="0" tIns="0" rIns="0" bIns="0" rtlCol="0" anchor="ctr"/>
          <a:lstStyle/>
          <a:p>
            <a:pPr marL="0" indent="0">
              <a:buNone/>
            </a:pPr>
            <a:r>
              <a:rPr lang="en-US" sz="1100" b="1" dirty="0">
                <a:solidFill>
                  <a:srgbClr val="0A4EA3"/>
                </a:solidFill>
              </a:rPr>
              <a:t>% Change</a:t>
            </a:r>
            <a:endParaRPr lang="en-US" sz="1100" dirty="0"/>
          </a:p>
        </p:txBody>
      </p:sp>
      <p:sp>
        <p:nvSpPr>
          <p:cNvPr id="11" name="Text 8"/>
          <p:cNvSpPr/>
          <p:nvPr/>
        </p:nvSpPr>
        <p:spPr>
          <a:xfrm>
            <a:off x="7150608" y="2633472"/>
            <a:ext cx="1874520" cy="201168"/>
          </a:xfrm>
          <a:prstGeom prst="rect">
            <a:avLst/>
          </a:prstGeom>
          <a:noFill/>
          <a:ln/>
        </p:spPr>
        <p:txBody>
          <a:bodyPr wrap="square" lIns="0" tIns="0" rIns="0" bIns="0" rtlCol="0" anchor="ctr"/>
          <a:lstStyle/>
          <a:p>
            <a:pPr marL="0" indent="0">
              <a:buNone/>
            </a:pPr>
            <a:r>
              <a:rPr lang="en-US" sz="1050" dirty="0">
                <a:solidFill>
                  <a:srgbClr val="323232"/>
                </a:solidFill>
              </a:rPr>
              <a:t>Premium Neighborhood</a:t>
            </a:r>
            <a:endParaRPr lang="en-US" sz="1050" dirty="0"/>
          </a:p>
        </p:txBody>
      </p:sp>
      <p:sp>
        <p:nvSpPr>
          <p:cNvPr id="12" name="Text 9"/>
          <p:cNvSpPr/>
          <p:nvPr/>
        </p:nvSpPr>
        <p:spPr>
          <a:xfrm>
            <a:off x="9098280" y="2633472"/>
            <a:ext cx="1005840" cy="201168"/>
          </a:xfrm>
          <a:prstGeom prst="rect">
            <a:avLst/>
          </a:prstGeom>
          <a:noFill/>
          <a:ln/>
        </p:spPr>
        <p:txBody>
          <a:bodyPr wrap="square" lIns="0" tIns="0" rIns="0" bIns="0" rtlCol="0" anchor="ctr"/>
          <a:lstStyle/>
          <a:p>
            <a:pPr marL="0" indent="0">
              <a:buNone/>
            </a:pPr>
            <a:r>
              <a:rPr lang="en-US" sz="1050" dirty="0">
                <a:solidFill>
                  <a:srgbClr val="323232"/>
                </a:solidFill>
              </a:rPr>
              <a:t>$4,398</a:t>
            </a:r>
            <a:endParaRPr lang="en-US" sz="1050" dirty="0"/>
          </a:p>
        </p:txBody>
      </p:sp>
      <p:sp>
        <p:nvSpPr>
          <p:cNvPr id="13" name="Text 10"/>
          <p:cNvSpPr/>
          <p:nvPr/>
        </p:nvSpPr>
        <p:spPr>
          <a:xfrm>
            <a:off x="10195560" y="2633472"/>
            <a:ext cx="914400" cy="201168"/>
          </a:xfrm>
          <a:prstGeom prst="rect">
            <a:avLst/>
          </a:prstGeom>
          <a:noFill/>
          <a:ln/>
        </p:spPr>
        <p:txBody>
          <a:bodyPr wrap="square" lIns="0" tIns="0" rIns="0" bIns="0" rtlCol="0" anchor="ctr"/>
          <a:lstStyle/>
          <a:p>
            <a:pPr marL="0" indent="0">
              <a:buNone/>
            </a:pPr>
            <a:r>
              <a:rPr lang="en-US" sz="1050" dirty="0">
                <a:solidFill>
                  <a:srgbClr val="323232"/>
                </a:solidFill>
              </a:rPr>
              <a:t>2.41%</a:t>
            </a:r>
            <a:endParaRPr lang="en-US" sz="1050" dirty="0"/>
          </a:p>
        </p:txBody>
      </p:sp>
      <p:sp>
        <p:nvSpPr>
          <p:cNvPr id="14" name="Text 11"/>
          <p:cNvSpPr/>
          <p:nvPr/>
        </p:nvSpPr>
        <p:spPr>
          <a:xfrm>
            <a:off x="7150608" y="3072384"/>
            <a:ext cx="1874520" cy="201168"/>
          </a:xfrm>
          <a:prstGeom prst="rect">
            <a:avLst/>
          </a:prstGeom>
          <a:noFill/>
          <a:ln/>
        </p:spPr>
        <p:txBody>
          <a:bodyPr wrap="square" lIns="0" tIns="0" rIns="0" bIns="0" rtlCol="0" anchor="ctr"/>
          <a:lstStyle/>
          <a:p>
            <a:pPr marL="0" indent="0">
              <a:buNone/>
            </a:pPr>
            <a:r>
              <a:rPr lang="en-US" sz="1050" dirty="0">
                <a:solidFill>
                  <a:srgbClr val="323232"/>
                </a:solidFill>
              </a:rPr>
              <a:t>Recent Renovation</a:t>
            </a:r>
            <a:endParaRPr lang="en-US" sz="1050" dirty="0"/>
          </a:p>
        </p:txBody>
      </p:sp>
      <p:sp>
        <p:nvSpPr>
          <p:cNvPr id="15" name="Text 12"/>
          <p:cNvSpPr/>
          <p:nvPr/>
        </p:nvSpPr>
        <p:spPr>
          <a:xfrm>
            <a:off x="9098280" y="3072384"/>
            <a:ext cx="1005840" cy="201168"/>
          </a:xfrm>
          <a:prstGeom prst="rect">
            <a:avLst/>
          </a:prstGeom>
          <a:noFill/>
          <a:ln/>
        </p:spPr>
        <p:txBody>
          <a:bodyPr wrap="square" lIns="0" tIns="0" rIns="0" bIns="0" rtlCol="0" anchor="ctr"/>
          <a:lstStyle/>
          <a:p>
            <a:pPr marL="0" indent="0">
              <a:buNone/>
            </a:pPr>
            <a:r>
              <a:rPr lang="en-US" sz="1050" dirty="0">
                <a:solidFill>
                  <a:srgbClr val="323232"/>
                </a:solidFill>
              </a:rPr>
              <a:t>$10,695</a:t>
            </a:r>
            <a:endParaRPr lang="en-US" sz="1050" dirty="0"/>
          </a:p>
        </p:txBody>
      </p:sp>
      <p:sp>
        <p:nvSpPr>
          <p:cNvPr id="16" name="Text 13"/>
          <p:cNvSpPr/>
          <p:nvPr/>
        </p:nvSpPr>
        <p:spPr>
          <a:xfrm>
            <a:off x="10195560" y="3072384"/>
            <a:ext cx="914400" cy="201168"/>
          </a:xfrm>
          <a:prstGeom prst="rect">
            <a:avLst/>
          </a:prstGeom>
          <a:noFill/>
          <a:ln/>
        </p:spPr>
        <p:txBody>
          <a:bodyPr wrap="square" lIns="0" tIns="0" rIns="0" bIns="0" rtlCol="0" anchor="ctr"/>
          <a:lstStyle/>
          <a:p>
            <a:pPr marL="0" indent="0">
              <a:buNone/>
            </a:pPr>
            <a:r>
              <a:rPr lang="en-US" sz="1050" dirty="0">
                <a:solidFill>
                  <a:srgbClr val="323232"/>
                </a:solidFill>
              </a:rPr>
              <a:t>5.85%</a:t>
            </a:r>
            <a:endParaRPr lang="en-US" sz="1050" dirty="0"/>
          </a:p>
        </p:txBody>
      </p:sp>
      <p:sp>
        <p:nvSpPr>
          <p:cNvPr id="17" name="Text 14"/>
          <p:cNvSpPr/>
          <p:nvPr/>
        </p:nvSpPr>
        <p:spPr>
          <a:xfrm>
            <a:off x="7150608" y="3511296"/>
            <a:ext cx="1874520" cy="201168"/>
          </a:xfrm>
          <a:prstGeom prst="rect">
            <a:avLst/>
          </a:prstGeom>
          <a:noFill/>
          <a:ln/>
        </p:spPr>
        <p:txBody>
          <a:bodyPr wrap="square" lIns="0" tIns="0" rIns="0" bIns="0" rtlCol="0" anchor="ctr"/>
          <a:lstStyle/>
          <a:p>
            <a:pPr marL="0" indent="0">
              <a:buNone/>
            </a:pPr>
            <a:r>
              <a:rPr lang="en-US" sz="1050" dirty="0">
                <a:solidFill>
                  <a:srgbClr val="323232"/>
                </a:solidFill>
              </a:rPr>
              <a:t>Expanded Property</a:t>
            </a:r>
            <a:endParaRPr lang="en-US" sz="1050" dirty="0"/>
          </a:p>
        </p:txBody>
      </p:sp>
      <p:sp>
        <p:nvSpPr>
          <p:cNvPr id="18" name="Text 15"/>
          <p:cNvSpPr/>
          <p:nvPr/>
        </p:nvSpPr>
        <p:spPr>
          <a:xfrm>
            <a:off x="9098280" y="3511296"/>
            <a:ext cx="1005840" cy="201168"/>
          </a:xfrm>
          <a:prstGeom prst="rect">
            <a:avLst/>
          </a:prstGeom>
          <a:noFill/>
          <a:ln/>
        </p:spPr>
        <p:txBody>
          <a:bodyPr wrap="square" lIns="0" tIns="0" rIns="0" bIns="0" rtlCol="0" anchor="ctr"/>
          <a:lstStyle/>
          <a:p>
            <a:pPr marL="0" indent="0">
              <a:buNone/>
            </a:pPr>
            <a:r>
              <a:rPr lang="en-US" sz="1050" dirty="0">
                <a:solidFill>
                  <a:srgbClr val="323232"/>
                </a:solidFill>
              </a:rPr>
              <a:t>$20,574</a:t>
            </a:r>
            <a:endParaRPr lang="en-US" sz="1050" dirty="0"/>
          </a:p>
        </p:txBody>
      </p:sp>
      <p:sp>
        <p:nvSpPr>
          <p:cNvPr id="19" name="Text 16"/>
          <p:cNvSpPr/>
          <p:nvPr/>
        </p:nvSpPr>
        <p:spPr>
          <a:xfrm>
            <a:off x="10195560" y="3511296"/>
            <a:ext cx="914400" cy="201168"/>
          </a:xfrm>
          <a:prstGeom prst="rect">
            <a:avLst/>
          </a:prstGeom>
          <a:noFill/>
          <a:ln/>
        </p:spPr>
        <p:txBody>
          <a:bodyPr wrap="square" lIns="0" tIns="0" rIns="0" bIns="0" rtlCol="0" anchor="ctr"/>
          <a:lstStyle/>
          <a:p>
            <a:pPr marL="0" indent="0">
              <a:buNone/>
            </a:pPr>
            <a:r>
              <a:rPr lang="en-US" sz="1050" dirty="0">
                <a:solidFill>
                  <a:srgbClr val="323232"/>
                </a:solidFill>
              </a:rPr>
              <a:t>11.26%</a:t>
            </a:r>
            <a:endParaRPr lang="en-US" sz="1050" dirty="0"/>
          </a:p>
        </p:txBody>
      </p:sp>
      <p:sp>
        <p:nvSpPr>
          <p:cNvPr id="20" name="Text 17"/>
          <p:cNvSpPr/>
          <p:nvPr/>
        </p:nvSpPr>
        <p:spPr>
          <a:xfrm>
            <a:off x="7150608" y="3886200"/>
            <a:ext cx="3931920" cy="731520"/>
          </a:xfrm>
          <a:prstGeom prst="rect">
            <a:avLst/>
          </a:prstGeom>
          <a:noFill/>
          <a:ln/>
        </p:spPr>
        <p:txBody>
          <a:bodyPr wrap="square" lIns="0" tIns="0" rIns="0" bIns="0" rtlCol="0" anchor="ctr">
            <a:normAutofit/>
          </a:bodyPr>
          <a:lstStyle/>
          <a:p>
            <a:pPr marL="0" indent="0">
              <a:buNone/>
            </a:pPr>
            <a:r>
              <a:rPr lang="en-US" sz="1350" dirty="0">
                <a:solidFill>
                  <a:srgbClr val="323232"/>
                </a:solidFill>
              </a:rPr>
              <a:t>Expanded Property produced the largest modeled impact. It increased most predictions while staying mostly inside the training feature ranges.</a:t>
            </a:r>
            <a:endParaRPr lang="en-US" sz="1350" dirty="0"/>
          </a:p>
        </p:txBody>
      </p:sp>
      <p:sp>
        <p:nvSpPr>
          <p:cNvPr id="21" name="Text 18"/>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Dashboard &amp; Interactivity</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The Power BI report connected EDA, model results, and scenario outcomes.</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pic>
        <p:nvPicPr>
          <p:cNvPr id="5" name="Image 0" descr="/mnt/data/Screenshot 2026-06-07 at 11.26.44 PM.png"/>
          <p:cNvPicPr>
            <a:picLocks noChangeAspect="1"/>
          </p:cNvPicPr>
          <p:nvPr/>
        </p:nvPicPr>
        <p:blipFill>
          <a:blip r:embed="rId3"/>
          <a:stretch>
            <a:fillRect/>
          </a:stretch>
        </p:blipFill>
        <p:spPr>
          <a:xfrm>
            <a:off x="594360" y="1972227"/>
            <a:ext cx="5212080" cy="2904401"/>
          </a:xfrm>
          <a:prstGeom prst="rect">
            <a:avLst/>
          </a:prstGeom>
        </p:spPr>
      </p:pic>
      <p:pic>
        <p:nvPicPr>
          <p:cNvPr id="6" name="Image 1" descr="/mnt/data/Screenshot 2026-06-07 at 10.22.52 PM.png"/>
          <p:cNvPicPr>
            <a:picLocks noChangeAspect="1"/>
          </p:cNvPicPr>
          <p:nvPr/>
        </p:nvPicPr>
        <p:blipFill>
          <a:blip r:embed="rId4"/>
          <a:stretch>
            <a:fillRect/>
          </a:stretch>
        </p:blipFill>
        <p:spPr>
          <a:xfrm>
            <a:off x="6172200" y="1791728"/>
            <a:ext cx="5212080" cy="3265400"/>
          </a:xfrm>
          <a:prstGeom prst="rect">
            <a:avLst/>
          </a:prstGeom>
        </p:spPr>
      </p:pic>
      <p:sp>
        <p:nvSpPr>
          <p:cNvPr id="7" name="Shape 3"/>
          <p:cNvSpPr/>
          <p:nvPr/>
        </p:nvSpPr>
        <p:spPr>
          <a:xfrm>
            <a:off x="1097280" y="5715000"/>
            <a:ext cx="2286000" cy="292608"/>
          </a:xfrm>
          <a:prstGeom prst="roundRect">
            <a:avLst>
              <a:gd name="adj" fmla="val 25000"/>
            </a:avLst>
          </a:prstGeom>
          <a:solidFill>
            <a:srgbClr val="EAF4FF"/>
          </a:solidFill>
          <a:ln w="12700">
            <a:solidFill>
              <a:srgbClr val="EAF4FF"/>
            </a:solidFill>
            <a:prstDash val="solid"/>
          </a:ln>
        </p:spPr>
        <p:txBody>
          <a:bodyPr/>
          <a:lstStyle/>
          <a:p>
            <a:endParaRPr lang="en-US"/>
          </a:p>
        </p:txBody>
      </p:sp>
      <p:sp>
        <p:nvSpPr>
          <p:cNvPr id="8" name="Text 4"/>
          <p:cNvSpPr/>
          <p:nvPr/>
        </p:nvSpPr>
        <p:spPr>
          <a:xfrm>
            <a:off x="1207008" y="5783580"/>
            <a:ext cx="2066544" cy="137160"/>
          </a:xfrm>
          <a:prstGeom prst="rect">
            <a:avLst/>
          </a:prstGeom>
          <a:noFill/>
          <a:ln/>
        </p:spPr>
        <p:txBody>
          <a:bodyPr wrap="square" lIns="0" tIns="0" rIns="0" bIns="0" rtlCol="0" anchor="ctr"/>
          <a:lstStyle/>
          <a:p>
            <a:pPr marL="0" indent="0" algn="ctr">
              <a:buNone/>
            </a:pPr>
            <a:r>
              <a:rPr lang="en-US" sz="950" b="1" dirty="0">
                <a:solidFill>
                  <a:srgbClr val="0A4EA3"/>
                </a:solidFill>
              </a:rPr>
              <a:t>Executive Overview</a:t>
            </a:r>
            <a:endParaRPr lang="en-US" sz="950" dirty="0"/>
          </a:p>
        </p:txBody>
      </p:sp>
      <p:sp>
        <p:nvSpPr>
          <p:cNvPr id="9" name="Shape 5"/>
          <p:cNvSpPr/>
          <p:nvPr/>
        </p:nvSpPr>
        <p:spPr>
          <a:xfrm>
            <a:off x="6583680" y="5715000"/>
            <a:ext cx="3017520" cy="292608"/>
          </a:xfrm>
          <a:prstGeom prst="roundRect">
            <a:avLst>
              <a:gd name="adj" fmla="val 25000"/>
            </a:avLst>
          </a:prstGeom>
          <a:solidFill>
            <a:srgbClr val="EAF4FF"/>
          </a:solidFill>
          <a:ln w="12700">
            <a:solidFill>
              <a:srgbClr val="EAF4FF"/>
            </a:solidFill>
            <a:prstDash val="solid"/>
          </a:ln>
        </p:spPr>
        <p:txBody>
          <a:bodyPr/>
          <a:lstStyle/>
          <a:p>
            <a:endParaRPr lang="en-US"/>
          </a:p>
        </p:txBody>
      </p:sp>
      <p:sp>
        <p:nvSpPr>
          <p:cNvPr id="10" name="Text 6"/>
          <p:cNvSpPr/>
          <p:nvPr/>
        </p:nvSpPr>
        <p:spPr>
          <a:xfrm>
            <a:off x="6693408" y="5783580"/>
            <a:ext cx="2798064" cy="137160"/>
          </a:xfrm>
          <a:prstGeom prst="rect">
            <a:avLst/>
          </a:prstGeom>
          <a:noFill/>
          <a:ln/>
        </p:spPr>
        <p:txBody>
          <a:bodyPr wrap="square" lIns="0" tIns="0" rIns="0" bIns="0" rtlCol="0" anchor="ctr"/>
          <a:lstStyle/>
          <a:p>
            <a:pPr marL="0" indent="0" algn="ctr">
              <a:buNone/>
            </a:pPr>
            <a:r>
              <a:rPr lang="en-US" sz="950" b="1" dirty="0">
                <a:solidFill>
                  <a:srgbClr val="0A4EA3"/>
                </a:solidFill>
              </a:rPr>
              <a:t>Feature Relationship Analysis</a:t>
            </a:r>
            <a:endParaRPr lang="en-US" sz="950" dirty="0"/>
          </a:p>
        </p:txBody>
      </p:sp>
      <p:sp>
        <p:nvSpPr>
          <p:cNvPr id="11" name="Text 7"/>
          <p:cNvSpPr/>
          <p:nvPr/>
        </p:nvSpPr>
        <p:spPr>
          <a:xfrm>
            <a:off x="685800" y="6172200"/>
            <a:ext cx="10698480" cy="320040"/>
          </a:xfrm>
          <a:prstGeom prst="rect">
            <a:avLst/>
          </a:prstGeom>
          <a:noFill/>
          <a:ln/>
        </p:spPr>
        <p:txBody>
          <a:bodyPr wrap="square" lIns="0" tIns="0" rIns="0" bIns="0" rtlCol="0" anchor="ctr"/>
          <a:lstStyle/>
          <a:p>
            <a:pPr marL="0" indent="0">
              <a:buNone/>
            </a:pPr>
            <a:r>
              <a:rPr lang="en-US" sz="1400" b="1" dirty="0">
                <a:solidFill>
                  <a:srgbClr val="1F2D3D"/>
                </a:solidFill>
              </a:rPr>
              <a:t>Interactive elements: neighborhood, overall quality, remodel status, and scenario slicers allow the user to filter the story dynamically.</a:t>
            </a:r>
            <a:endParaRPr lang="en-US" sz="1400" dirty="0"/>
          </a:p>
        </p:txBody>
      </p:sp>
      <p:sp>
        <p:nvSpPr>
          <p:cNvPr id="12" name="Text 8"/>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Recommendations &amp; Conclusion</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Use the model and dashboard as decision-support tools, not as standalone price guarantees.</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sp>
        <p:nvSpPr>
          <p:cNvPr id="5" name="Shape 3"/>
          <p:cNvSpPr/>
          <p:nvPr/>
        </p:nvSpPr>
        <p:spPr>
          <a:xfrm>
            <a:off x="685800" y="1417320"/>
            <a:ext cx="5257800" cy="4389120"/>
          </a:xfrm>
          <a:prstGeom prst="roundRect">
            <a:avLst>
              <a:gd name="adj" fmla="val 1042"/>
            </a:avLst>
          </a:prstGeom>
          <a:solidFill>
            <a:srgbClr val="FFFFFF"/>
          </a:solidFill>
          <a:ln w="10160">
            <a:solidFill>
              <a:srgbClr val="D8DEE9"/>
            </a:solidFill>
            <a:prstDash val="solid"/>
          </a:ln>
        </p:spPr>
        <p:txBody>
          <a:bodyPr/>
          <a:lstStyle/>
          <a:p>
            <a:endParaRPr lang="en-US"/>
          </a:p>
        </p:txBody>
      </p:sp>
      <p:sp>
        <p:nvSpPr>
          <p:cNvPr id="6" name="Text 4"/>
          <p:cNvSpPr/>
          <p:nvPr/>
        </p:nvSpPr>
        <p:spPr>
          <a:xfrm>
            <a:off x="960120" y="1691640"/>
            <a:ext cx="4023360" cy="320040"/>
          </a:xfrm>
          <a:prstGeom prst="rect">
            <a:avLst/>
          </a:prstGeom>
          <a:noFill/>
          <a:ln/>
        </p:spPr>
        <p:txBody>
          <a:bodyPr wrap="square" lIns="0" tIns="0" rIns="0" bIns="0" rtlCol="0" anchor="ctr"/>
          <a:lstStyle/>
          <a:p>
            <a:pPr marL="0" indent="0">
              <a:buNone/>
            </a:pPr>
            <a:r>
              <a:rPr lang="en-US" sz="1900" b="1" dirty="0">
                <a:solidFill>
                  <a:srgbClr val="1F2D3D"/>
                </a:solidFill>
              </a:rPr>
              <a:t>Actionable recommendations</a:t>
            </a:r>
            <a:endParaRPr lang="en-US" sz="1900" dirty="0"/>
          </a:p>
        </p:txBody>
      </p:sp>
      <p:sp>
        <p:nvSpPr>
          <p:cNvPr id="7" name="Text 5"/>
          <p:cNvSpPr/>
          <p:nvPr/>
        </p:nvSpPr>
        <p:spPr>
          <a:xfrm>
            <a:off x="960120" y="2148840"/>
            <a:ext cx="4617720" cy="2148840"/>
          </a:xfrm>
          <a:prstGeom prst="rect">
            <a:avLst/>
          </a:prstGeom>
          <a:noFill/>
          <a:ln/>
        </p:spPr>
        <p:txBody>
          <a:bodyPr wrap="square" lIns="635" tIns="635" rIns="635" bIns="635" rtlCol="0" anchor="ctr">
            <a:normAutofit/>
          </a:bodyPr>
          <a:lstStyle/>
          <a:p>
            <a:pPr marL="152400" indent="-152400">
              <a:buSzPct val="100000"/>
              <a:buChar char="•"/>
            </a:pPr>
            <a:r>
              <a:rPr lang="en-US" sz="1350" dirty="0">
                <a:solidFill>
                  <a:srgbClr val="323232"/>
                </a:solidFill>
                <a:latin typeface="Aptos" pitchFamily="34" charset="0"/>
                <a:ea typeface="Aptos" pitchFamily="34" charset="-122"/>
                <a:cs typeface="Aptos" pitchFamily="34" charset="-120"/>
              </a:rPr>
              <a:t>Use neighborhood with size, quality, age, and renovation features—not by itself</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Keep Linear Regression as the preferred model for this dataset</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Use scenario results to explore sensitivity, not to promise returns</a:t>
            </a:r>
            <a:endParaRPr lang="en-US" sz="1350" dirty="0"/>
          </a:p>
          <a:p>
            <a:pPr marL="152400" indent="-152400">
              <a:buSzPct val="100000"/>
              <a:buChar char="•"/>
            </a:pPr>
            <a:r>
              <a:rPr lang="en-US" sz="1350" dirty="0">
                <a:solidFill>
                  <a:srgbClr val="323232"/>
                </a:solidFill>
                <a:latin typeface="Aptos" pitchFamily="34" charset="0"/>
                <a:ea typeface="Aptos" pitchFamily="34" charset="-122"/>
                <a:cs typeface="Aptos" pitchFamily="34" charset="-120"/>
              </a:rPr>
              <a:t>Flag unusual high-value or large properties for additional review</a:t>
            </a:r>
            <a:endParaRPr lang="en-US" sz="1350" dirty="0"/>
          </a:p>
        </p:txBody>
      </p:sp>
      <p:sp>
        <p:nvSpPr>
          <p:cNvPr id="8" name="Shape 6"/>
          <p:cNvSpPr/>
          <p:nvPr/>
        </p:nvSpPr>
        <p:spPr>
          <a:xfrm>
            <a:off x="6263640" y="1417320"/>
            <a:ext cx="5257800" cy="4389120"/>
          </a:xfrm>
          <a:prstGeom prst="roundRect">
            <a:avLst>
              <a:gd name="adj" fmla="val 1042"/>
            </a:avLst>
          </a:prstGeom>
          <a:solidFill>
            <a:srgbClr val="FFFFFF"/>
          </a:solidFill>
          <a:ln w="10160">
            <a:solidFill>
              <a:srgbClr val="D8DEE9"/>
            </a:solidFill>
            <a:prstDash val="solid"/>
          </a:ln>
        </p:spPr>
        <p:txBody>
          <a:bodyPr/>
          <a:lstStyle/>
          <a:p>
            <a:endParaRPr lang="en-US"/>
          </a:p>
        </p:txBody>
      </p:sp>
      <p:sp>
        <p:nvSpPr>
          <p:cNvPr id="9" name="Text 7"/>
          <p:cNvSpPr/>
          <p:nvPr/>
        </p:nvSpPr>
        <p:spPr>
          <a:xfrm>
            <a:off x="6537960" y="1691640"/>
            <a:ext cx="4023360" cy="320040"/>
          </a:xfrm>
          <a:prstGeom prst="rect">
            <a:avLst/>
          </a:prstGeom>
          <a:noFill/>
          <a:ln/>
        </p:spPr>
        <p:txBody>
          <a:bodyPr wrap="square" lIns="0" tIns="0" rIns="0" bIns="0" rtlCol="0" anchor="ctr"/>
          <a:lstStyle/>
          <a:p>
            <a:pPr marL="0" indent="0">
              <a:buNone/>
            </a:pPr>
            <a:r>
              <a:rPr lang="en-US" sz="1900" b="1" dirty="0">
                <a:solidFill>
                  <a:srgbClr val="1F2D3D"/>
                </a:solidFill>
              </a:rPr>
              <a:t>Final conclusion</a:t>
            </a:r>
            <a:endParaRPr lang="en-US" sz="1900" dirty="0"/>
          </a:p>
        </p:txBody>
      </p:sp>
      <p:sp>
        <p:nvSpPr>
          <p:cNvPr id="10" name="Text 8"/>
          <p:cNvSpPr/>
          <p:nvPr/>
        </p:nvSpPr>
        <p:spPr>
          <a:xfrm>
            <a:off x="6537960" y="2212848"/>
            <a:ext cx="4526280" cy="1143000"/>
          </a:xfrm>
          <a:prstGeom prst="rect">
            <a:avLst/>
          </a:prstGeom>
          <a:noFill/>
          <a:ln/>
        </p:spPr>
        <p:txBody>
          <a:bodyPr wrap="square" lIns="0" tIns="0" rIns="0" bIns="0" rtlCol="0" anchor="ctr">
            <a:normAutofit/>
          </a:bodyPr>
          <a:lstStyle/>
          <a:p>
            <a:pPr marL="0" indent="0">
              <a:buNone/>
            </a:pPr>
            <a:r>
              <a:rPr lang="en-US" sz="1500" dirty="0">
                <a:solidFill>
                  <a:srgbClr val="323232"/>
                </a:solidFill>
              </a:rPr>
              <a:t>Housing prices were most strongly shaped by quality, living area, location, age, and renovation history. Linear Regression produced the strongest predictive performance, while scenario analysis showed the model was most sensitive to property-size increases.</a:t>
            </a:r>
            <a:endParaRPr lang="en-US" sz="1500" dirty="0"/>
          </a:p>
        </p:txBody>
      </p:sp>
      <p:sp>
        <p:nvSpPr>
          <p:cNvPr id="11" name="Text 9"/>
          <p:cNvSpPr/>
          <p:nvPr/>
        </p:nvSpPr>
        <p:spPr>
          <a:xfrm>
            <a:off x="6537960" y="3840480"/>
            <a:ext cx="1737360" cy="228600"/>
          </a:xfrm>
          <a:prstGeom prst="rect">
            <a:avLst/>
          </a:prstGeom>
          <a:noFill/>
          <a:ln/>
        </p:spPr>
        <p:txBody>
          <a:bodyPr wrap="square" lIns="0" tIns="0" rIns="0" bIns="0" rtlCol="0" anchor="ctr"/>
          <a:lstStyle/>
          <a:p>
            <a:pPr marL="0" indent="0">
              <a:buNone/>
            </a:pPr>
            <a:r>
              <a:rPr lang="en-US" sz="1400" b="1" dirty="0">
                <a:solidFill>
                  <a:srgbClr val="0A4EA3"/>
                </a:solidFill>
              </a:rPr>
              <a:t>Bottom line</a:t>
            </a:r>
            <a:endParaRPr lang="en-US" sz="1400" dirty="0"/>
          </a:p>
        </p:txBody>
      </p:sp>
      <p:sp>
        <p:nvSpPr>
          <p:cNvPr id="12" name="Text 10"/>
          <p:cNvSpPr/>
          <p:nvPr/>
        </p:nvSpPr>
        <p:spPr>
          <a:xfrm>
            <a:off x="6537960" y="4206240"/>
            <a:ext cx="4434840" cy="548640"/>
          </a:xfrm>
          <a:prstGeom prst="rect">
            <a:avLst/>
          </a:prstGeom>
          <a:noFill/>
          <a:ln/>
        </p:spPr>
        <p:txBody>
          <a:bodyPr wrap="square" lIns="0" tIns="0" rIns="0" bIns="0" rtlCol="0" anchor="ctr">
            <a:normAutofit fontScale="92500"/>
          </a:bodyPr>
          <a:lstStyle/>
          <a:p>
            <a:pPr marL="0" indent="0">
              <a:buNone/>
            </a:pPr>
            <a:r>
              <a:rPr lang="en-US" sz="1400" b="1" dirty="0">
                <a:solidFill>
                  <a:srgbClr val="1F2D3D"/>
                </a:solidFill>
              </a:rPr>
              <a:t>The project provides a practical workflow for explaining home values and comparing predictive approaches.</a:t>
            </a:r>
            <a:endParaRPr lang="en-US" sz="1400" dirty="0"/>
          </a:p>
        </p:txBody>
      </p:sp>
      <p:sp>
        <p:nvSpPr>
          <p:cNvPr id="13" name="Text 11"/>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74320"/>
            <a:ext cx="8961120" cy="502920"/>
          </a:xfrm>
          <a:prstGeom prst="rect">
            <a:avLst/>
          </a:prstGeom>
          <a:noFill/>
          <a:ln/>
        </p:spPr>
        <p:txBody>
          <a:bodyPr wrap="square" lIns="0" tIns="0" rIns="0" bIns="0" rtlCol="0" anchor="ctr"/>
          <a:lstStyle/>
          <a:p>
            <a:pPr marL="0" indent="0">
              <a:buNone/>
            </a:pPr>
            <a:r>
              <a:rPr lang="en-US" sz="3000" b="1" dirty="0">
                <a:solidFill>
                  <a:srgbClr val="1F2D3D"/>
                </a:solidFill>
                <a:latin typeface="Aptos Display" pitchFamily="34" charset="0"/>
                <a:ea typeface="Aptos Display" pitchFamily="34" charset="-122"/>
                <a:cs typeface="Aptos Display" pitchFamily="34" charset="-120"/>
              </a:rPr>
              <a:t>References</a:t>
            </a:r>
            <a:endParaRPr lang="en-US" sz="3000" dirty="0"/>
          </a:p>
        </p:txBody>
      </p:sp>
      <p:sp>
        <p:nvSpPr>
          <p:cNvPr id="3" name="Text 1"/>
          <p:cNvSpPr/>
          <p:nvPr/>
        </p:nvSpPr>
        <p:spPr>
          <a:xfrm>
            <a:off x="512064" y="786384"/>
            <a:ext cx="9692640" cy="320040"/>
          </a:xfrm>
          <a:prstGeom prst="rect">
            <a:avLst/>
          </a:prstGeom>
          <a:noFill/>
          <a:ln/>
        </p:spPr>
        <p:txBody>
          <a:bodyPr wrap="square" lIns="0" tIns="0" rIns="0" bIns="0" rtlCol="0" anchor="ctr"/>
          <a:lstStyle/>
          <a:p>
            <a:pPr marL="0" indent="0">
              <a:buNone/>
            </a:pPr>
            <a:r>
              <a:rPr lang="en-US" sz="1350" dirty="0">
                <a:solidFill>
                  <a:srgbClr val="667085"/>
                </a:solidFill>
                <a:latin typeface="Aptos" pitchFamily="34" charset="0"/>
                <a:ea typeface="Aptos" pitchFamily="34" charset="-122"/>
                <a:cs typeface="Aptos" pitchFamily="34" charset="-120"/>
              </a:rPr>
              <a:t>Key sources used for dataset context and modeling tools.</a:t>
            </a:r>
            <a:endParaRPr lang="en-US" sz="1350" dirty="0"/>
          </a:p>
        </p:txBody>
      </p:sp>
      <p:sp>
        <p:nvSpPr>
          <p:cNvPr id="4" name="Shape 2"/>
          <p:cNvSpPr/>
          <p:nvPr/>
        </p:nvSpPr>
        <p:spPr>
          <a:xfrm>
            <a:off x="502920" y="1115568"/>
            <a:ext cx="11155680" cy="0"/>
          </a:xfrm>
          <a:prstGeom prst="line">
            <a:avLst/>
          </a:prstGeom>
          <a:noFill/>
          <a:ln w="8890">
            <a:solidFill>
              <a:srgbClr val="D8DEE9"/>
            </a:solidFill>
            <a:prstDash val="solid"/>
          </a:ln>
        </p:spPr>
        <p:txBody>
          <a:bodyPr/>
          <a:lstStyle/>
          <a:p>
            <a:endParaRPr lang="en-US"/>
          </a:p>
        </p:txBody>
      </p:sp>
      <p:sp>
        <p:nvSpPr>
          <p:cNvPr id="5" name="Text 3"/>
          <p:cNvSpPr/>
          <p:nvPr/>
        </p:nvSpPr>
        <p:spPr>
          <a:xfrm>
            <a:off x="777240" y="1463040"/>
            <a:ext cx="10789920" cy="731520"/>
          </a:xfrm>
          <a:prstGeom prst="rect">
            <a:avLst/>
          </a:prstGeom>
          <a:noFill/>
          <a:ln/>
        </p:spPr>
        <p:txBody>
          <a:bodyPr wrap="square" lIns="0" tIns="0" rIns="0" bIns="0" rtlCol="0" anchor="ctr">
            <a:normAutofit/>
          </a:bodyPr>
          <a:lstStyle/>
          <a:p>
            <a:pPr marL="0" indent="0">
              <a:buNone/>
            </a:pPr>
            <a:r>
              <a:rPr lang="en-US" sz="1350" dirty="0">
                <a:solidFill>
                  <a:srgbClr val="323232"/>
                </a:solidFill>
              </a:rPr>
              <a:t>De Cock, D. (2011). Ames, Iowa: Alternative to the Boston housing data as an end of semester regression project. Journal of Statistics Education, 19(3), 1–15.</a:t>
            </a:r>
          </a:p>
          <a:p>
            <a:r>
              <a:rPr lang="en-US" u="sng" dirty="0">
                <a:hlinkClick r:id="rId3"/>
              </a:rPr>
              <a:t>https://doi.org/10.1080/10691898.2011.11889627</a:t>
            </a:r>
            <a:r>
              <a:rPr lang="en-US" sz="1400" dirty="0"/>
              <a:t> </a:t>
            </a:r>
            <a:endParaRPr lang="en-US" sz="1350" dirty="0"/>
          </a:p>
        </p:txBody>
      </p:sp>
      <p:sp>
        <p:nvSpPr>
          <p:cNvPr id="6" name="Text 4"/>
          <p:cNvSpPr/>
          <p:nvPr/>
        </p:nvSpPr>
        <p:spPr>
          <a:xfrm>
            <a:off x="777240" y="2514600"/>
            <a:ext cx="10789920" cy="731520"/>
          </a:xfrm>
          <a:prstGeom prst="rect">
            <a:avLst/>
          </a:prstGeom>
          <a:noFill/>
          <a:ln/>
        </p:spPr>
        <p:txBody>
          <a:bodyPr wrap="square" lIns="0" tIns="0" rIns="0" bIns="0" rtlCol="0" anchor="ctr">
            <a:normAutofit/>
          </a:bodyPr>
          <a:lstStyle/>
          <a:p>
            <a:pPr marL="0" indent="0">
              <a:buNone/>
            </a:pPr>
            <a:r>
              <a:rPr lang="en-US" sz="1350" dirty="0">
                <a:solidFill>
                  <a:srgbClr val="323232"/>
                </a:solidFill>
              </a:rPr>
              <a:t>Kaggle. (n.d.). House prices: Advanced regression techniques.</a:t>
            </a:r>
          </a:p>
          <a:p>
            <a:r>
              <a:rPr lang="en-US" u="sng" dirty="0">
                <a:hlinkClick r:id="rId4"/>
              </a:rPr>
              <a:t>https://www.kaggle.com/competitions/house-prices-advanced-regression-techniques/data</a:t>
            </a:r>
            <a:r>
              <a:rPr lang="en-US" sz="1400" dirty="0"/>
              <a:t> </a:t>
            </a:r>
            <a:endParaRPr lang="en-US" sz="1350" dirty="0"/>
          </a:p>
        </p:txBody>
      </p:sp>
      <p:sp>
        <p:nvSpPr>
          <p:cNvPr id="7" name="Text 5"/>
          <p:cNvSpPr/>
          <p:nvPr/>
        </p:nvSpPr>
        <p:spPr>
          <a:xfrm>
            <a:off x="777240" y="3566160"/>
            <a:ext cx="10789920" cy="731520"/>
          </a:xfrm>
          <a:prstGeom prst="rect">
            <a:avLst/>
          </a:prstGeom>
          <a:noFill/>
          <a:ln/>
        </p:spPr>
        <p:txBody>
          <a:bodyPr wrap="square" lIns="0" tIns="0" rIns="0" bIns="0" rtlCol="0" anchor="ctr">
            <a:normAutofit/>
          </a:bodyPr>
          <a:lstStyle/>
          <a:p>
            <a:pPr marL="0" indent="0">
              <a:buNone/>
            </a:pPr>
            <a:r>
              <a:rPr lang="en-US" sz="1350" dirty="0">
                <a:solidFill>
                  <a:srgbClr val="323232"/>
                </a:solidFill>
              </a:rPr>
              <a:t>Pedregosa, F., Varoquaux, G., Gramfort, A., Michel, V., Thirion, B., Grisel, O., et al. (2011). Scikit-learn: Machine learning in Python. Journal of Machine Learning Research, 12, 2825–2830.</a:t>
            </a:r>
          </a:p>
          <a:p>
            <a:r>
              <a:rPr lang="en-US" u="sng" dirty="0">
                <a:hlinkClick r:id="rId5"/>
              </a:rPr>
              <a:t>https://www.jmlr.org/papers/volume12/pedregosa11a/pedregosa11a.pdf?ref=https:/</a:t>
            </a:r>
            <a:r>
              <a:rPr lang="en-US" sz="1400" dirty="0"/>
              <a:t> </a:t>
            </a:r>
            <a:endParaRPr lang="en-US" sz="1350" dirty="0"/>
          </a:p>
        </p:txBody>
      </p:sp>
      <p:sp>
        <p:nvSpPr>
          <p:cNvPr id="8" name="Text 6"/>
          <p:cNvSpPr/>
          <p:nvPr/>
        </p:nvSpPr>
        <p:spPr>
          <a:xfrm>
            <a:off x="777240" y="4617720"/>
            <a:ext cx="10789920" cy="731520"/>
          </a:xfrm>
          <a:prstGeom prst="rect">
            <a:avLst/>
          </a:prstGeom>
          <a:noFill/>
          <a:ln/>
        </p:spPr>
        <p:txBody>
          <a:bodyPr wrap="square" lIns="0" tIns="0" rIns="0" bIns="0" rtlCol="0" anchor="ctr">
            <a:normAutofit/>
          </a:bodyPr>
          <a:lstStyle/>
          <a:p>
            <a:pPr marL="0" indent="0">
              <a:buNone/>
            </a:pPr>
            <a:r>
              <a:rPr lang="en-US" sz="1350" dirty="0">
                <a:solidFill>
                  <a:srgbClr val="323232"/>
                </a:solidFill>
              </a:rPr>
              <a:t>TensorFlow. (2025). The Sequential model. TensorFlow Core.</a:t>
            </a:r>
          </a:p>
          <a:p>
            <a:r>
              <a:rPr lang="en-US" u="sng" dirty="0">
                <a:hlinkClick r:id="rId6"/>
              </a:rPr>
              <a:t>https://www.tensorflow.org/guide/keras/sequential_model</a:t>
            </a:r>
            <a:r>
              <a:rPr lang="en-US" sz="1400" dirty="0"/>
              <a:t> </a:t>
            </a:r>
            <a:endParaRPr lang="en-US" sz="1350" dirty="0"/>
          </a:p>
        </p:txBody>
      </p:sp>
      <p:sp>
        <p:nvSpPr>
          <p:cNvPr id="9" name="Text 7"/>
          <p:cNvSpPr/>
          <p:nvPr/>
        </p:nvSpPr>
        <p:spPr>
          <a:xfrm>
            <a:off x="9966960" y="6510528"/>
            <a:ext cx="1737360" cy="182880"/>
          </a:xfrm>
          <a:prstGeom prst="rect">
            <a:avLst/>
          </a:prstGeom>
          <a:noFill/>
          <a:ln/>
        </p:spPr>
        <p:txBody>
          <a:bodyPr wrap="square" lIns="0" tIns="0" rIns="0" bIns="0" rtlCol="0" anchor="ctr"/>
          <a:lstStyle/>
          <a:p>
            <a:pPr marL="0" indent="0" algn="r">
              <a:buNone/>
            </a:pPr>
            <a:r>
              <a:rPr lang="en-US" sz="850" dirty="0">
                <a:solidFill>
                  <a:srgbClr val="8A94A6"/>
                </a:solidFill>
              </a:rPr>
              <a:t>House Prices Analysis | 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1444</Words>
  <Application>Microsoft Macintosh PowerPoint</Application>
  <PresentationFormat>Widescreen</PresentationFormat>
  <Paragraphs>147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Prices Analysis and Model Performance</dc:title>
  <dc:subject>House Prices Analysis and Model Performance</dc:subject>
  <dc:creator>Jerald Bradley</dc:creator>
  <cp:lastModifiedBy>VB-Bradley, Jerald (Virginia Beach)</cp:lastModifiedBy>
  <cp:revision>3</cp:revision>
  <dcterms:created xsi:type="dcterms:W3CDTF">2026-06-14T02:43:19Z</dcterms:created>
  <dcterms:modified xsi:type="dcterms:W3CDTF">2026-06-14T03:37:58Z</dcterms:modified>
</cp:coreProperties>
</file>